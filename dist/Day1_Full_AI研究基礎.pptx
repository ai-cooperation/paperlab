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400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Paper Workshop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Day 1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AI 研究基礎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857"/>
                </a:solidFill>
              </a:rPr>
              <a:t>從概念探索到文獻調研的完整 AI 協作流程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L1D2 初階進階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E6A820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Slides/Skills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54880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Smart Manufacturing Research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754880"/>
            <a:ext cx="4206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cooperation.tw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今日課程安排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開場：AI 正在重塑學術研究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822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09:00-09:30（30 min）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完整工作流程總覽 + 真實案例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Session 1：AI 概念探索與研究方向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4447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09:30-10:45（75 min）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CARE 框架 + 多輪對話 + 方向確認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12264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12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0665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Session 2：AI 輔助文獻調研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0665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11:00-14:30（含午休）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3408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種子DOI + API驗證 + Obsidian + BibTeX + Gap分析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34056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6883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自動化工具入門 + Claude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6883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14:45-16:00（75 min）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9626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GAS 自動化 + Claude Code CLI 初體驗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55848"/>
            <a:ext cx="411480" cy="4114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310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實作練習 + Day 1 回顧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16:00-17:00（60 min）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584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核心技能 checklist + 明日預告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今天你會帶走這 5 樣東西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研究方向文件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用 CARE 框架與 AI 對話確認的研究方向 + Gap 分析初稿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驗證過的文獻清單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至少 10 篇經 CrossRef API 驗證的正確引用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Obsidian 文獻知識庫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結構化筆記卡 + 雙向連結 + Graph View 知識圖譜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references.bib 引用檔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格式正確、經驗證的 BibTeX 引用檔案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Research Gap 分析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從文獻矩陣中識別的研究缺口 + 創新定位初稿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完整 AI 研究工作流程總覽（11 Phase）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概念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探索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96696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96696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文獻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調研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82496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64792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792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研究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50592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32888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32888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2888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論文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架構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18688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00984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00984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實驗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設計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86784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69080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實驗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執行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37176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37176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數據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22976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05272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05272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05272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論文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撰寫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73368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73368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73368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品質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審查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9168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41464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141464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41464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投稿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準備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27264" y="1234440"/>
            <a:ext cx="82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09560" y="914400"/>
            <a:ext cx="685800" cy="1005840"/>
          </a:xfrm>
          <a:prstGeom prst="roundRect">
            <a:avLst>
              <a:gd name="adj" fmla="val 80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09560" y="9326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857"/>
                </a:solidFill>
              </a:rPr>
              <a:t>P11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09560" y="11887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審稿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回覆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2103120"/>
            <a:ext cx="2304288" cy="274320"/>
          </a:xfrm>
          <a:prstGeom prst="rect">
            <a:avLst/>
          </a:prstGeom>
          <a:solidFill>
            <a:srgbClr val="0F9D8A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" y="210312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Day 1 範圍 (P1-P3)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88336" y="2103120"/>
            <a:ext cx="6227064" cy="274320"/>
          </a:xfrm>
          <a:prstGeom prst="rect">
            <a:avLst/>
          </a:prstGeom>
          <a:solidFill>
            <a:srgbClr val="134B6E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688336" y="2103120"/>
            <a:ext cx="6227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C5D"/>
                </a:solidFill>
              </a:rPr>
              <a:t>Day 2 範圍 (P4-P11)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429768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53" name="Text 51"/>
          <p:cNvSpPr/>
          <p:nvPr/>
        </p:nvSpPr>
        <p:spPr>
          <a:xfrm>
            <a:off x="338328" y="4297680"/>
            <a:ext cx="8467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AI 參與度 70-75%  |  24 Skills + 8 Agents + 5 Commands + 5 APIs  |  真實案例：NILM+LLM 論文 (SETA)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為什麼需要 AI 輔助學術研究？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每年 300 萬篇新論文，人工篩選已不可能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AI 不是取代研究者，而是成為你的「超級助教」— 處理重複性工作，讓你專注創意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文獻爆炸：2023 年全球發表 340 萬篇論文，年增 5%，人工無法全面追蹤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寫作瓶頸：英文非母語的研究者，改稿平均需要 3-5 輪，每輪 2-3 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品質風險：30% 的投稿因引用錯誤、數據不一致被 desk reject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AI 可以：30 秒評估一篇論文、自動驗證引用、多維度品質審查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關鍵原則：AI 產出必須驗證 — 本課程的核心就是「信任但驗證」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研究者的三大痛點 vs AI 解方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105156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4183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痛點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9304"/>
            <a:ext cx="3639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文獻海量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每年 300 萬篇新論文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人工篩選耗時耗力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6052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64008" cy="1051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9418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解方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89304"/>
            <a:ext cx="4005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文獻篩選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API 驗證 + 語義比對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30 秒評估一篇論文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03120"/>
            <a:ext cx="64008" cy="105156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17627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痛點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523744"/>
            <a:ext cx="3639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寫作瓶頸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英文非母語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學術風格難掌握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605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03120"/>
            <a:ext cx="64008" cy="1051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1762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解方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523744"/>
            <a:ext cx="4005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寫作助手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學術風格指導 + 潤稿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結構化撰寫流程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37560"/>
            <a:ext cx="64008" cy="105156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41071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痛點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758184"/>
            <a:ext cx="3639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品質不一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引用錯誤、數據不一致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投稿被 desk reject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6052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➡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337560"/>
            <a:ext cx="64008" cy="1051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4107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AI 解方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758184"/>
            <a:ext cx="40050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品質審查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七維度評分 + P0-P3 分級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多 AI 平行審查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傳統研究 vs AI 輔助研究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Google Scholar 手動搜尋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逐篇閱讀 Abstract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手動記錄到 Excel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68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不確定引用是否正確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手動排版 Word/LaTeX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請同事幫忙審閱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投稿被退 → 從頭再來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056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耗時 6-12 個月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8F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After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AI 產出種子 DOI 清單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673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API 自動驗證 + 30 秒評估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Obsidian 知識圖譜自動連結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368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CrossRef API 100% 驗證引用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QMD 一鍵轉 PDF/TeX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Claude×ChatGPT×Gemini 平行審查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投稿前七維度品質保證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41056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耗時 2-4 個月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真實案例：NILM+LLM 論文的 AI 協作歷程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論文資訊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9136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標題：Training-Free Industrial NILM via LLM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期刊：SETA (Sustainable Energy Technologies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     and Assessments)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狀態：已投稿，Under Review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參與度：~70%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18288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AI 使用統計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43584"/>
            <a:ext cx="40050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43 篇引用 → 全部經 CrossRef 驗證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 圖 11 表 → evidence-indexer 追溯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 個數據集 → 跨域驗證 F1=0.85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七維度審查 → P0 問題歸零才投稿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平行審查 → Claude + ChatGPT + Gemini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0779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本課程的教學方法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8394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不是教「工具怎麼用」，而是教「論文怎麼做」— 工具服務流程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每個 Phase 都有真實案例對照 — 你看到的不是示範，是實戰經驗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結業帶走 research-workspace.zip — 24 Skills + 8 Agents + 5 Commands 完整系統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AI 不會寫論文，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但會用 AI 的研究者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效率提升 3-5 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9D8A"/>
                </a:solidFill>
              </a:rPr>
              <a:t>本工作坊的目標：讓你成為「會用 AI 的研究者」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準備好了嗎？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1：AI 概念探索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概念探索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與研究方向確定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1 | 75 分鐘 | CARE 框架 + 多輪對話 + 方向確認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S1. AI 概念探索與研究方向確定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8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09:30-10:45（75 分鐘）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研究 Prompt 工程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CARE 框架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5 套研究專用模板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結構化提問方法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745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745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889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多輪對話策略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889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漸進式縮焦法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Extended Thinking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從寬到窄聚焦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058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058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3202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方向確認方法論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202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三角驗證法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SMART 化研究問題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創新性初步定位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2371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2371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691515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即時練習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515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選定研究主題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CARE Prompt 撰寫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與 AI 進行 3 輪對話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什麼是「研究 Prompt 工程」？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好的 Prompt = 好的研究問題 = 好的 AI 回答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研究 Prompt 不同於一般聊天 — 需要結構化、可驗證、逐步深入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一般 Prompt：「幫我找 NILM 的論文」→ AI 給你一堆可能錯誤的清單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研究 Prompt：提供背景 + 指定角色 + 明確任務 + 要求格式 → 高品質可驗證的回答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關鍵差異：研究 Prompt 要求 AI 的回答必須「可驗證」（DOI、數據、來源）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目標：不是讓 AI 給你答案，而是讓 AI 幫你「問對問題」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研究 Prompt 工程：CARE 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822960"/>
            <a:ext cx="822960" cy="8229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</a:rPr>
              <a:t>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03120"/>
            <a:ext cx="201168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194560"/>
            <a:ext cx="18653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提供研究背景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「我在研究工業 NILM，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使用 CNN 方法，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目標發表 Q1 期刊」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822960"/>
            <a:ext cx="822960" cy="82296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</a:rPr>
              <a:t>Action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10312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03120"/>
            <a:ext cx="201168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2194560"/>
            <a:ext cx="18653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明確任務指令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「請分析 2020-2025 年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該領域的 research gap，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列出未解決的問題」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822960"/>
            <a:ext cx="822960" cy="822960"/>
          </a:xfrm>
          <a:prstGeom prst="ellipse">
            <a:avLst/>
          </a:prstGeom>
          <a:solidFill>
            <a:srgbClr val="E6A820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20"/>
                </a:solidFill>
              </a:rPr>
              <a:t>Role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03120"/>
            <a:ext cx="201168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2194560"/>
            <a:ext cx="18653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指定 AI 角色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「你是 Energy &amp; Buildings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的資深審稿人，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有 10 年審稿經驗」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52360" y="822960"/>
            <a:ext cx="822960" cy="822960"/>
          </a:xfrm>
          <a:prstGeom prst="ellipse">
            <a:avLst/>
          </a:prstGeom>
          <a:solidFill>
            <a:srgbClr val="0A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6B"/>
                </a:solidFill>
              </a:rPr>
              <a:t>Example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210312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2103120"/>
            <a:ext cx="2011680" cy="54864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8" name="Text 26"/>
          <p:cNvSpPr/>
          <p:nvPr/>
        </p:nvSpPr>
        <p:spPr>
          <a:xfrm>
            <a:off x="6931152" y="2194560"/>
            <a:ext cx="18653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給出範例格式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「請用表格列出：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論文/方法/數據集/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F1-score/限制」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CARE = 結構化的研究提問法 — 每一次與 AI 對話都應該遵循這個框架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CARE 深入 — C: Context（背景）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你正在準備投稿 SCI 期刊，需要 AI 幫你分析 research gap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不好的 Context：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「幫我找 AI 的論文」（太模糊）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好的 Context：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「我是台科大工業管理博士生，研究主題是工業場景的非侵入式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 負載監測 (NILM)。目前使用 1Hz 低採樣率數據，方法是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 CNN + 頻域特徵。目標期刊是 Energy &amp; Buildings 或 SETA，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 需要在 3 個月內完成投稿。」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關鍵：越具體的 Context → AI 的回答越精準、越相關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CARE 深入 — R: Role（角色）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不同角色會給出完全不同的回答 — 選對角色是關鍵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「你是一位資深研究者」→ 給你研究方向建議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「你是 Energy &amp; Buildings 的審稿人」→ 指出論文弱點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「你是統計學顧問」→ 幫你選對統計方法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「你是學術英文編輯」→ 幫你潤稿改寫作風格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5 個研究常用角色：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1. 領域專家 — 分析趨勢、識別 Gap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2. 期刊審稿人 — 找出論文弱點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3. 統計顧問 — 驗證分析方法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4. 英文編輯 — 改善寫作品質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5. 研究方法論者 — 審查實驗設計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套研究專用 Prompt 模板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645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645920" cy="411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領域掃描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14996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「列出 [領域] 近 5 年的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5 個主要研究方向」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822960"/>
            <a:ext cx="1645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9968" y="822960"/>
            <a:ext cx="1645920" cy="4114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2029968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Gap 識別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4996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「分析 [方法] 在 [場景]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的已知限制和未解問題」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822960"/>
            <a:ext cx="1645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85616" y="822960"/>
            <a:ext cx="1645920" cy="41148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785616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可行性分析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1371600"/>
            <a:ext cx="14996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「評估 [方法] 解決 [問題]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的可行性和風險」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41264" y="822960"/>
            <a:ext cx="1645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41264" y="822960"/>
            <a:ext cx="1645920" cy="41148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9" name="Text 17"/>
          <p:cNvSpPr/>
          <p:nvPr/>
        </p:nvSpPr>
        <p:spPr>
          <a:xfrm>
            <a:off x="5541264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創新定位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14416" y="1371600"/>
            <a:ext cx="14996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「與現有方法相比，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[方法] 的獨特貢獻是什麼」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96912" y="822960"/>
            <a:ext cx="1645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96912" y="822960"/>
            <a:ext cx="1645920" cy="411480"/>
          </a:xfrm>
          <a:prstGeom prst="rect">
            <a:avLst/>
          </a:prstGeom>
          <a:solidFill>
            <a:srgbClr val="134B6E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問題精煉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70064" y="1371600"/>
            <a:ext cx="14996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「把 [研究方向] 轉化為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一個可驗證的研究問題」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7947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模板只是起點 — 結合 CARE 框架，根據你的具體研究調整每個模板的內容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多輪對話策略：漸進式縮焦法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不要一次問完 — 用 5 輪對話從「寬」聚焦到「窄」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像漏斗一樣，每一輪都基於上一輪的回答，逐步縮小範圍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Round 1：領域概覽 — 了解大方向和主要研究流派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Round 2：聚焦子領域 — 選定具體技術方向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Round 3：識別問題 — 找出未解決的具體問題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Round 4：驗證假設 — 確認你的想法是否有研究基礎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Round 5：確定貢獻 — 明確你的獨特貢獻點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漸進式縮焦法：5 輪對話示範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777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777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「智慧製造有哪些 AI 應用方向？」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435608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43560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4356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「NILM 目前有哪些深度學習方法？」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093976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209397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「低採樣率 NILM 有什麼尚未解決的問題？」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752344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275234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75234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「Training-free NILM 可行嗎？有沒有相關研究？」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410712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4680" y="341071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Round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34107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「LLM + NILM 作為 training-free 方案的創新性？」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1605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每一輪都以上一輪的回答為基礎 — 不是 5 個獨立問題，而是一個連貫的探索過程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Extended Thinking：讓 AI 「想深一點」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2860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三個思考深度指令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9136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think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標準深度思考，適合一般研究問題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think hard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深度推理，適合複雜的方法論問題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ultrathink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極限推理（31K tokens），適合架構設計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22860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使用時機建議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43584"/>
            <a:ext cx="400507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一般問題（文獻搜索、格式調整）：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不需要 Extended Thinking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中等問題（Gap 分析、方法比較）：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think — 標準深度即可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複雜問題（創新性論證、實驗設計）：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think hard 或 ultrathink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85953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34670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Prompt 範例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657600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 training-free NILM 的三個核心創新點，並評估每個創新點的學術價值和可行性。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請用表格列出：創新點 | 學術價值(1-5) | 實現難度(1-5) | 類似前例 | 風險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43891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Extended Thinking 會消耗更多 tokens — 不是每個問題都需要，選擇性使用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方向確認方法論：三角驗證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AI 建議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AI 分析 research gap、建議研究方向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但 AI 可能有盲點、幻覺、過時資訊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文獻證據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用 API 驗證 AI 建議的論文是否存在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確認 gap 是否真的未被解決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導師意見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與指導教授討論 AI + 文獻的分析結果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確認可行性、時間表、資源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SMART 研究問題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Specific + Measurable + Achievable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+ Relevant + Time-bound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真實案例：NILM+LLM 的概念探索歷程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22960"/>
            <a:ext cx="1627632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932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932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69164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031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領域掃描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工業能源管理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AI 應用全景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65376" y="178308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822960"/>
            <a:ext cx="1627632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932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932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48256" y="169164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21031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聚焦 NILM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非侵入式負載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識別技術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0168" y="178308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822960"/>
            <a:ext cx="1627632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932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932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69164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1031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發現 Gap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低採樣率場景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缺乏解方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78308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22976" y="822960"/>
            <a:ext cx="1627632" cy="2377440"/>
          </a:xfrm>
          <a:prstGeom prst="rect">
            <a:avLst/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932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932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4B6E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169164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1031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創新假設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LLM 知識遷移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取代 training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178308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822960"/>
            <a:ext cx="1627632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81544" y="932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932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169164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21031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三大貢獻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確立論文定位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鎖定期刊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2900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29000"/>
            <a:ext cx="64008" cy="1188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5021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C1: Training-Free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" y="384962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首次提出 LLM 驅動的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免訓練 NILM 框架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打破「必須標註數據」的假設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342900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3429000"/>
            <a:ext cx="64008" cy="11887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35021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C2: Prompt Engineering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37560" y="384962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設計工業設備專用的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結構化 Prompt 範本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可遷移到其他工業場景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3429000"/>
            <a:ext cx="27432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3429000"/>
            <a:ext cx="64008" cy="118872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5021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C3: Multi-Dataset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84962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跨三個數據集驗證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9 類設備 F1=0.85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泛化能力實證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動手練習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S1 即時練習 — 用 CARE 寫你的第一個研究 Prompt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694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15 分鐘 — 個人練習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選定你自己的研究主題（或用工作坊提供的範例主題）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用 CARE 框架寫一個完整的研究 Prompt（Context + Action + Role + Example）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579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打開 Claude / ChatGPT，貼上你的 Prompt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與 AI 進行 3 輪漸進式對話（寬→中→窄）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18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記錄 AI 的回答，標記「需要驗證」的內容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（進階）使用 think hard 嘗試一個複雜問題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Session 1 成果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學員產出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CARE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至少 1 個完整的研究 Prompt（含 Context/Action/Role/Example）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4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57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3 輪對話記錄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從寬到窄的漸進式對話，含 AI 回答和你的追問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研究方向初稿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初步確定的研究主題 + 可能的 research gap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有了研究方向，接下來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找文獻、驗證文獻！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 輔助文獻調研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核心環節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2-3 | 文獻正確性是本課程的核心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S2. AI 輔助文獻調研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8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11:00-14:30（含午休，共 210 分鐘）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種子 DOI + API 驗證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產出候選清單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三層 API 驗證流程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CrossRef/Semantic Scholar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745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745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889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Zotero + Obsidian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889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四種匯入方式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文獻筆記卡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Graph View 知識圖譜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058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058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3202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BibTeX + Research Gap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202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references.bib 管理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bib-manager 防呆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文獻矩陣 + Gap 識別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23710" y="1097280"/>
            <a:ext cx="2045970" cy="3566160"/>
          </a:xfrm>
          <a:prstGeom prst="roundRect">
            <a:avLst>
              <a:gd name="adj" fmla="val 35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23710" y="1097280"/>
            <a:ext cx="204597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6915150" y="1234440"/>
            <a:ext cx="18630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創新定位 + 期刊匹配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5150" y="1645920"/>
            <a:ext cx="186309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三層創新框架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六維度期刊評估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主編偏好分析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文獻搜索的核心原則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信任但驗證 — Trust but Verify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AI 可以快速產出文獻清單，但每一篇都必須經過 API 驗證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AI 幻覺問題：GPT-4 產出的學術引用約 30-50% 有錯誤（虛構 DOI、錯誤作者/年份）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但 AI 擅長：識別研究方向、建議搜索關鍵詞、評估相關性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正確做法：AI 產出候選清單 → API 驗證每一篇 → 只保留「確認存在」的文獻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本課程策略：結合 3 個免費 API（CrossRef + Semantic Scholar + OpenAlex）做多重驗證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種子 DOI 生成：用 AI 產出候選文獻清單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研究 Prompt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38953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你是 NILM (Non-Intrusive Load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Monitoring) 領域的資深研究者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我在研究低採樣率(1Hz)工業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NILM，使用 LLM 作為推理引擎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請列出以下三個方向近 5 年最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重要的 20 篇論文，每篇包含 DOI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深度學習 NILM 方法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低採樣率 NILM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LLM 在能源領域的應用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格式：作者(年份) 標題 DOI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87782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AI 產出範例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73168" y="1188720"/>
            <a:ext cx="39867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Kelly &amp; Knottenbelt (2015)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Neural NILM: Deep Neural Networks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Applied to Energy Disaggregation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DOI: 10.1145/2821650.2821672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Zhang et al. (2018)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Sequence-to-Point Learning with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Neural Networks for NILM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DOI: 10.1109/TSG.2017.2743342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[更多候選文獻...]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(共 20 篇，含 DOI)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859536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3566160"/>
            <a:ext cx="6400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AI 產出的 DOI 不能直接信任！必須經過 API 驗證。AI 可能：虛構 DOI、張冠李戴作者/年份、捏造論文。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42062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三層搜索策略：Google Scholar（手動確認）→ ArXiv/IEEE Xplore（資料庫搜索）→ Citation Graph（引用追蹤）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三層搜索策略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Google Scholar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最基本的學術搜索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用 AI 建議的關鍵詞搜索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手動確認論文存在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適合快速驗證 5-10 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22960"/>
            <a:ext cx="201168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專業資料庫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ArXiv（預印本）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IEEE Xplore（工程）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ScienceDirect（綜合）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用 DOI 直接查找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22960"/>
            <a:ext cx="201168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Citation Graph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Forward: 誰引用了這篇？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Backward: 這篇引用了誰？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Semantic Scholar 提供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發現 AI 沒提到的重要文獻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D4F0E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822960"/>
            <a:ext cx="2011680" cy="54864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A6B"/>
                </a:solidFill>
              </a:rPr>
              <a:t>AI 語義比對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6772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用 Abstract 做相關性評分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1-5 分量化篩選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30 秒評估一篇論文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快速決定 keep/skip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驗證 Step 1：CrossRef — DOI 存在性驗證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CrossRef API 呼叫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48097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驗證 DOI 是否存在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"https://api.crossref.org/works/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10.1016/j.seta.2020.100921"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回應 (如果存在):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"ok",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{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["Industrial NILM..."],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"author": [{"given":"M","family":"Eskander"}],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"published": {"date-parts": [[2020,12]]}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822960"/>
            <a:ext cx="64008" cy="2194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8961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CrossRef 能做什麼？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243584"/>
            <a:ext cx="318211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確認 DOI 存在（最基本）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比對 AI 給的 title 是否正確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比對 author 名字是否匹配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比對發表年份是否正確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取得期刊名稱、ISSN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免費、無需 API Key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速率：50 次/秒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00400"/>
            <a:ext cx="64008" cy="9144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7355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驗證邏輯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621024"/>
            <a:ext cx="8394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DOI 存在 + Title 匹配 + Author 匹配 + Year 匹配 → 通過驗證 → 加入 references.bib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任何一項不匹配 → 標記為「需人工確認」| DOI 不存在 → 直接淘汰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CrossRef 涵蓋 1.5 億+ 學術文獻 — 幾乎所有正式出版的期刊論文都能找到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驗證 Step 2：Semantic Scholar — Abstract + 引用數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Semantic Scholar API 呼叫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48097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取得 Abstract + 引用數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"https://api.semanticscholar.org/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graph/v1/paper/DOI:10.1016/j.seta...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?fields=abstract,citationCount,year"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回應: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"abstract": "This paper presents...",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"citationCount": 42,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2020,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"authors": [{"name": "M. Eskander"}]}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822960"/>
            <a:ext cx="64008" cy="2194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8961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Semantic Scholar 能做什麼？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243584"/>
            <a:ext cx="318211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取得完整 Abstract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查看引用數 (影響力)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查看被引用論文清單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取得研究領域標籤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建立 Citation Graph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免費、需 API Key (免費)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速率：100 次/5 分鐘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20040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有了 Abstract，就可以用 AI 做「語義相關性評分」— 自動判斷這篇論文跟你的研究有多相關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49040"/>
            <a:ext cx="64008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82219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進階用法：Citation 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169664"/>
            <a:ext cx="8394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Forward Citation：誰引用了這篇？→ 找到最新的後續研究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Backward Citation：這篇引用了誰？→ 找到經典基礎文獻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驗證 Step 3：OpenAlex — OA 狀態 +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OpenAlex API 呼叫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4809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查詢 OA 狀態 + 概念標籤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"https://api.openalex.org/works/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doi:10.1016/j.seta.2020.100921"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回應: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"is_oa": true,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"concepts": [{"display_name": "NILM"},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{"display_name": "Energy"}],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"cited_by_count": 45 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82296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8961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OpenAlex 獨特價值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243584"/>
            <a:ext cx="31821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OA 狀態 → 能否免費取得全文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Concepts 標籤 → 自動分類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機構資訊 → 哪些大學在做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完全免費、無需 API Key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涵蓋 2.5 億+ 文獻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2608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7315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主要功能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免費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需 API Key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速率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CrossRef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DOI 驗證 + Metadata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50/秒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Semantic Scholar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Abstract + 引用圖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是(免費)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100/5min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OpenAlex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OA + Concepts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10/秒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三個 API 互補使用：CrossRef 驗證存在 → Semantic Scholar 取 Abstract → OpenAlex 查 OA 狀態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API 實戰：一行 curl 驗證 DOI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Step 1: CrossRef 驗證 DOI 存在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83759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 "https://api.crossref.org/works/10.1145/2821650.2821672" | python3 -m json.tool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如果 status=200 → DOI 存在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比對 title 是否包含 "Neural NILM" → 確認 AI 沒有張冠李戴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比對 author family name → 確認作者正確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34086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Step 2: Semantic Scholar 取 Abstract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651760"/>
            <a:ext cx="8375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-s "https://api.semanticscholar.org/graph/v1/paper/DOI:10.1145/2821650.2821672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?fields=abstract,citationCount" | python3 -m json.tool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取得 abstract → 交給 AI 做相關性評分 (1-5 分)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411480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35753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Python 批次驗證（概念）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886200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doi in seed_dois: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requests.get(f"https://api.crossref.org/works/{doi}")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r.status_code == 200: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verified.append(doi)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352044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520440"/>
            <a:ext cx="64008" cy="10058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59359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驗證結果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941064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案例：NILM+LLM 論文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產出 50 個候選 DOI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CrossRef 驗證：43 存在、7 虛構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最終保留 43 篇進入 .bib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完整文獻驗證流水線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07A3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AI 產出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候選 DOI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914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CrossRef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存在驗證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Semantic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Scholar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OpenAlex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OA 查詢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AI 相關性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評分 1-5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914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9144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Zotero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匯入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194560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194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AI 產出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2194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50 篇候選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2267712"/>
            <a:ext cx="3200400" cy="201168"/>
          </a:xfrm>
          <a:prstGeom prst="rect">
            <a:avLst/>
          </a:prstGeom>
          <a:solidFill>
            <a:srgbClr val="E07A3A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578608"/>
            <a:ext cx="859536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786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CrossRef 通過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25786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43 篇 (86%)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2651760"/>
            <a:ext cx="2752344" cy="201168"/>
          </a:xfrm>
          <a:prstGeom prst="rect">
            <a:avLst/>
          </a:prstGeom>
          <a:solidFill>
            <a:srgbClr val="0F9D8A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2962656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962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Abstract 取得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2962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41 篇 (95%)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3035808"/>
            <a:ext cx="2624328" cy="201168"/>
          </a:xfrm>
          <a:prstGeom prst="rect">
            <a:avLst/>
          </a:prstGeom>
          <a:solidFill>
            <a:srgbClr val="0B3C5D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346704"/>
            <a:ext cx="859536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3467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0"/>
                </a:solidFill>
              </a:rPr>
              <a:t>相關性 ≥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33467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38 篇 (93%)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3419856"/>
            <a:ext cx="2432304" cy="201168"/>
          </a:xfrm>
          <a:prstGeom prst="rect">
            <a:avLst/>
          </a:prstGeom>
          <a:solidFill>
            <a:srgbClr val="E6A820">
              <a:alpha val="7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730752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最終收錄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2608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43 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0" y="3803904"/>
            <a:ext cx="2752344" cy="201168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42062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整個流程可自動化 — Claude Code 可以幫你寫 Python 腳本批次處理 50+ 篇文獻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Zotero：你的文獻管理中心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免費、開源的文獻管理工具，支援 Word / LaTeX / QMD 引用插入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把驗證過的文獻統一管理，自動抓 PDF + metadata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為什麼用 Zotero？— 免費、跨平台、開源、社群活躍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核心功能：PDF 管理 + 引用插入 + 群組分享 + 同步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與 AI 工作流整合：API 驗證 DOI → BibTeX 匯出 → Zotero 匯入 → 自動抓 PDF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Zotero 6 的標註功能：直接在 PDF 上畫重點 → 匯出到 Obsidian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Zotero 四種匯入方式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Magic Wand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在工具列貼上 DOI 清單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自動取得完整 metadata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最簡單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 5-10 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22960"/>
            <a:ext cx="201168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Browser Connector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瀏覽器擴充套件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Google Scholar 頁面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一鍵批次儲存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適合搜索中匯入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22960"/>
            <a:ext cx="201168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BibTeX 匯入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匯入 references.bib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保留所有欄位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適合已有 BibTeX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 AI 驗證後的清單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8229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D4F0E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822960"/>
            <a:ext cx="2011680" cy="54864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A6B"/>
                </a:solidFill>
              </a:rPr>
              <a:t>Zotero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67728" y="1874520"/>
            <a:ext cx="1792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程式化匯入 (pyzotero)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大量文獻自動化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 50+ 篇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適合與 Claude Code 整合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Zotero 匯入實作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DOI 匯入（最簡單的方式）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打開 Zotero → 點擊工具列的「魔術棒」圖示（Add Item by Identifier）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貼上 DOI：10.1145/2821650.2821672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Zotero 自動從 CrossRef 取得完整 metadata（標題、作者、期刊、年份）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自動嘗試下載 PDF（如果有 Open Access 版本）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重複貼上其他 DOI — 可以一次貼多個（一行一個）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Zotero 匯入實作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5943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8412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BibTeX 匯入（適合批次匯入）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先用 AI + API 驗證，產出一份乾淨的 references.bib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Zotero → File → Import... → 選擇 references.bib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所有條目自動匯入，保留 citekey、DOI、完整欄位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建議：建立一個 Collection 叫「AI-Verified」存放驗證過的文獻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9D8A"/>
                </a:solidFill>
              </a:rPr>
              <a:t>•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</a:rPr>
              <a:t>之後在 QMD 寫作時，直接用 citekey 引用（如 @kelly2015）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Obsidian：文獻知識圖譜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每篇論文一張筆記卡 + 雙向連結 = 可視化的知識網路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Obsidian 的 Graph View 讓你「看見」文獻之間的關係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為什麼不只用 Zotero？— Zotero 管文獻，Obsidian 管知識和關係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核心概念：每篇論文 = 一個 Markdown 文件 + YAML frontmatter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雙向連結 [[paper]]：論文 A 引用論文 B → 自動建立雙向關係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Graph View：所有文獻的視覺化網路圖 → 孤立節點 = 可能遺漏的重要文獻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模板系統：AI 幫你生成標準化的筆記卡，確保每篇論文都記錄相同的資訊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Obsidian 文獻筆記卡模板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3657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標準化筆記卡範例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39867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[NILM, training-free, CNN]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doi: "10.1145/2821650.2821672"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2015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authors: [Kelly, Knottenbelt]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journal: BuildSys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relevance: 5/5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cite_in: [Introduction, Related Work]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Kelly2015 - Neural NILM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Core Contribution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首篇將 deep learning 應用於 NILM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提出 seq2point 和 seq2seq 兩種架構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Key Results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REDD dataset, F1=0.83 (washing machine)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Link to My Research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支撐 Related Work -&gt; [[Research_Gap]]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比較 baseline -&gt; [[Experiment_Design]]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Related Papers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[[Hart1992]] [[Zhang2018]]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64008" cy="16459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503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YAML Frontmatter 說明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197864"/>
            <a:ext cx="40050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tags → 分類標籤，Obsidian 搜索用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doi → 連回原始論文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relevance → 與我研究的相關性 (1-5)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cite_in → 計劃引用在論文哪個章節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所有欄位都可以用 AI 自動生成！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Prompt：「幫我為這篇論文建立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Obsidian 文獻筆記卡」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606040"/>
            <a:ext cx="64008" cy="18288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791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雙向連結的力量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026664"/>
            <a:ext cx="40050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[[Research_Gap]] → 連到你的 Gap 分析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[[Hart1992]] → 連到其他文獻卡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[[Experiment_Design]] → 連到實驗設計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Graph View 會自動顯示：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哪些論文經常被一起引用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哪些論文是「孤島」（可能遺漏）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哪個主題的文獻最密集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Obsidian Graph View：可視化知識圖譜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0" cy="3657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04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</a:rPr>
              <a:t>Graph View 示意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402336" cy="402336"/>
          </a:xfrm>
          <a:prstGeom prst="ellipse">
            <a:avLst/>
          </a:prstGeom>
          <a:solidFill>
            <a:srgbClr val="0F9D8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1992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512064" cy="512064"/>
          </a:xfrm>
          <a:prstGeom prst="ellipse">
            <a:avLst/>
          </a:prstGeom>
          <a:solidFill>
            <a:srgbClr val="0F9D8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88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Kelly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2015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0A7A6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Zhang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2018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11680" y="2286000"/>
            <a:ext cx="640080" cy="640080"/>
          </a:xfrm>
          <a:prstGeom prst="ellipse">
            <a:avLst/>
          </a:prstGeom>
          <a:solidFill>
            <a:srgbClr val="FFC857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Research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74720" y="2011680"/>
            <a:ext cx="402336" cy="402336"/>
          </a:xfrm>
          <a:prstGeom prst="ellipse">
            <a:avLst/>
          </a:prstGeom>
          <a:solidFill>
            <a:srgbClr val="0A7A6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Esk.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2021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371600" y="3017520"/>
            <a:ext cx="329184" cy="329184"/>
          </a:xfrm>
          <a:prstGeom prst="ellipse">
            <a:avLst/>
          </a:prstGeom>
          <a:solidFill>
            <a:srgbClr val="E6A82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017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NILM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365760" cy="365760"/>
          </a:xfrm>
          <a:prstGeom prst="ellipse">
            <a:avLst/>
          </a:prstGeom>
          <a:solidFill>
            <a:srgbClr val="134B6E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GPT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Energy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274320" cy="274320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Gap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389120" y="3200400"/>
            <a:ext cx="274320" cy="274320"/>
          </a:xfrm>
          <a:prstGeom prst="ellipse">
            <a:avLst/>
          </a:prstGeom>
          <a:solidFill>
            <a:srgbClr val="5A6B7A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Paper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577840" y="777240"/>
            <a:ext cx="32918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77724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8503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如何解讀 Graph 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1197864"/>
            <a:ext cx="3090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大節點 = 被多篇引用（重要文獻）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連線密集 = 主題聚類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孤立節點 = 可能遺漏相關文獻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「My Research」應該在中心位置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紅色「Gap」= 你的研究切入點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77840" y="2834640"/>
            <a:ext cx="32918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2834640"/>
            <a:ext cx="64008" cy="15544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29077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實用技巧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15000" y="3255264"/>
            <a:ext cx="30906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每加一篇文獻 → 建立連結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每週看一次 Graph View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找出孤立節點 → 補充文獻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用 tag 過濾 → 專注子主題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截圖放入論文 Committee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30 秒評估一篇論文：5 維度快速篩選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1645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645920" cy="411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相關性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9D8A"/>
                </a:solidFill>
              </a:rPr>
              <a:t>30%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與我研究的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直接關聯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777240"/>
            <a:ext cx="1645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777240"/>
            <a:ext cx="1645920" cy="4114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2029968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新穎性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20%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21408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方法的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原創程度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5616" y="777240"/>
            <a:ext cx="1645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85616" y="777240"/>
            <a:ext cx="1645920" cy="41148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3785616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影響力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85616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A6B"/>
                </a:solidFill>
              </a:rPr>
              <a:t>20%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77056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引用數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期刊等級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41264" y="777240"/>
            <a:ext cx="1645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41264" y="777240"/>
            <a:ext cx="1645920" cy="41148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22" name="Text 20"/>
          <p:cNvSpPr/>
          <p:nvPr/>
        </p:nvSpPr>
        <p:spPr>
          <a:xfrm>
            <a:off x="5541264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可比較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41264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20"/>
                </a:solidFill>
              </a:rPr>
              <a:t>15%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32704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能否做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baseline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96912" y="777240"/>
            <a:ext cx="1645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96912" y="777240"/>
            <a:ext cx="1645920" cy="411480"/>
          </a:xfrm>
          <a:prstGeom prst="rect">
            <a:avLst/>
          </a:prstGeom>
          <a:solidFill>
            <a:srgbClr val="134B6E"/>
          </a:solidFill>
          <a:ln/>
        </p:spPr>
      </p:sp>
      <p:sp>
        <p:nvSpPr>
          <p:cNvPr id="27" name="Text 25"/>
          <p:cNvSpPr/>
          <p:nvPr/>
        </p:nvSpPr>
        <p:spPr>
          <a:xfrm>
            <a:off x="7296912" y="777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引用值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4B6E"/>
                </a:solidFill>
              </a:rPr>
              <a:t>15%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88352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放在哪個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章節引用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063240"/>
            <a:ext cx="85953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11810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Prompt 範例：30 秒文獻評估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429000"/>
            <a:ext cx="8375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請用 5 維度評估以下論文的 Abstract 對我研究的價值。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我的研究：工業 NILM + LLM，低採樣率，投稿 SETA。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論文 Abstract：[貼上 Abstract]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請用表格列出：維度 | 分數(1-5) | 理由（一句話） | 建議引用章節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4434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Claude 可以 30 秒完成評估 — 50 篇文獻 25 分鐘搞定，人工至少需要 2-3 天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BibTeX 引用管理基礎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references.bib 結構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38953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@article{kelly2015neural,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  = {Neural NILM: Deep Neural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Networks Applied to Energy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Disaggregation},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  = {Kelly, Jack and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Knottenbelt, William},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journal = {BuildSys},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  = {2015},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doi     = {10.1145/2821650.2821672}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@article{zhang2018seq2point,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  = {Sequence-to-Point Learning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NILM},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64008" cy="12801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503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BibTeX 關鍵欄位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197864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citekey → QMD 中引用的 ID (@kelly2015neural)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title → 完整論文標題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author → 作者（姓, 名 格式）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journal → 期刊/會議名稱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year → 發表年份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doi → DOI（最重要，可追溯）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40280"/>
            <a:ext cx="64008" cy="10972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3134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QMD 引用語法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660904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單引用：@kelly2015neural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括號引用：[@kelly2015neural]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多引用：[@kelly2015; @zhang2018]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行內引用：如 @kelly2015 所述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8595360" cy="548640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566160"/>
            <a:ext cx="64008" cy="5486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0"/>
                </a:solidFill>
              </a:rPr>
              <a:t>黃金規則：絕不添加 references.bib 中不存在的引用 — AI 要引用，必須先驗證 DOI、新增到 .bib、再引用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DOI → BibTeX 自動生成：https://doi.org/[DOI] 加上 Accept: application/x-bibtex header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bib-manager Skill 防呆機制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重複條目偵測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自動偵測相同 DOI 或相似 title 的重複條目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格式一致性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field 命名統一（title/author/year）、縮排一致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幽靈引用警告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.bib 中有但論文中沒引用的條目 → 是否該刪除？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遺漏引用偵測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論文中引用了但 .bib 中沒有的 → 必須補上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CrossRef 交叉驗證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自動比對 .bib 中的年份/作者與 CrossRef 回傳是否一致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案例統計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NILM+LLM 論文 43 篇引用：發現 3 個格式問題 + 2 個幽靈引用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Gap 識別方法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Gap = 現有研究已知但未解決的問題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好的 Gap 需要文獻證據支撐 — 不是你「覺得」有 Gap，而是文獻「證明」有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1：建立文獻分類矩陣 — 方法 × 數據集 × 場景 × 指標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2：識別矩陣中的「空白格」— 沒有研究覆蓋的組合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3：分析空白的原因 — 是技術困難？還是被忽視？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4：評估填補可行性 — 你的方法能否解決這個問題？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Step 5：文獻佐證 — 找到明確說「this remains unsolved」的引用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三層 Research Gap 識別法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8229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現有方法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8229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CNN/RNN/Transformer 需要大量標註數據，監督式學習佔 NILM 研究 85%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71600" y="17830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1783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已知限制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7830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工業場景標註成本高（$5K-50K/設備）；低採樣率 (1Hz) 資訊量不足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27432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27432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研究機會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43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Training-free NILM：利用 LLM 世界知識取代訓練 = 本論文的核心貢獻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749040"/>
            <a:ext cx="64008" cy="9144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822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literature-synthesis Skill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16966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觸發詞：「文獻回顧」「research gap」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自動建立分類矩陣 + 識別 Gap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749040"/>
            <a:ext cx="64008" cy="9144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8221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/analyze-literature Command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6966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一鍵啟動：輸入主題關鍵詞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輸出 Gap 分析 + 文獻矩陣 + 建議結構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創新性定位：innovation-positioning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22860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503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三層創新框架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97864"/>
            <a:ext cx="39136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Layer 1: 技術創新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新方法、新架構、新演算法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最高價值，Q1 期刊看重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Layer 2: 應用創新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新場景、新數據集、新領域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需搭配技術差異化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Layer 3: 整合創新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跨域結合（如 LLM + NILM）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需證明整合的獨特價值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64008" cy="228600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503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避免的陷阱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97864"/>
            <a:ext cx="400507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"Inspired by the success of..."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暗示跟風，不是創新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"We improve upon..."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暗示改進，不是突破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"Few studies have explored..."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要有數據佐證「few」有多少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正確做法：「To the best of our knowledge,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this is the first work that...」+ 文獻佐證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2461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NILM+LLM 論文的創新聲明：「the first training-free framework using LLM for industrial NILM」— 有文獻佐證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8229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86791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journal-fit Skill — 期刊適配度分析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215384"/>
            <a:ext cx="8394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六維度加權評分：Scope 35% + IF 15% + 主編偏好 20% + 近期主題 15% + 審稿週期 10% + OA/APC 5%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含 desk-reject 風險評估 + 主編研究方向分析（Google Scholar + Editorial）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期刊匹配：六維度加權評分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256032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維度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內容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案例 (SETA)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Scope 契合度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Aims &amp; Scope 關鍵詞重疊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能源+AI+永續 = 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Impact Factor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JCR + CiteScore 排名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IF=7.4, Q1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主編研究偏好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主編領域、近期 Editorial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偏好 AI+Energy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近期收錄主題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近 2 年 topic clustering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NILM 6 篇/年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審稿週期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First Decision 時間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~45 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OA / APC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Open Access 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APC $2,500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56616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566160"/>
            <a:ext cx="64008" cy="10058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363931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主編分析方法（關鍵新增）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3986784"/>
            <a:ext cx="8394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期刊官網 → Editorial Board → 記錄 EIC + AE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Google Scholar 查主編近 5 年發表 → h-index + 研究關鍵詞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分析 Editorial/Guest Editorial → 偏好方向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時機判斷：新主編上任 = 更開放 | Special Issue = 高契合度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動手練習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S2 綜合練習 — 建立你的文獻系統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694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45 分鐘 — 個人實作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用 AI 產出你研究主題的 10 個種子 DOI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用 CrossRef API 驗證至少 5 個 DOI（curl 或 Python）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579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在 Obsidian 建立 3 篇文獻筆記卡（含 YAML frontmatter + 雙向連結）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建立 references.bib（至少 5 篇驗證過的引用）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18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嘗試 Research Gap 識別：建立簡單的文獻分類矩陣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（進階）用 Semantic Scholar API 取 Abstract + 做相關性評分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Session 2 成果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學員產出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8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驗證過的文獻清單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至少 5 篇經 CrossRef API 驗證的正確引用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4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57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Obsidian 知識庫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3 篇文獻筆記卡 + 雙向連結 + Graph 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references.bib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格式正確的 BibTeX 引用檔案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4F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文獻分類矩陣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4290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方法 × 數據集 × 場景 的初步矩陣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8F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Research Gap 初稿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1148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識別的研究缺口 + 佐證文獻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82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D8A"/>
                </a:solidFill>
              </a:rPr>
              <a:t>手動做太累了？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讓自動化工具幫你！</a:t>
            </a:r>
            <a:endParaRPr lang="en-US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1 下午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自動化工具入門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+ Claude Code 初體驗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Google Apps Script + Claude Code CLI 入門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Google Apps Script：零程式基礎的自動化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GAS = Google 內建的自動化引擎 — 免費、免安裝、用 AI 幫你寫腳本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把你的重複性工作自動化：批次 PDF 分析、文獻追蹤通知、引用格式轉換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你不需要會寫程式 — 把需求描述給 AI，AI 產出 GAS 腳本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串接所有 Google 服務：Drive + Sheets + Gmail + Calendar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研究場景：Google Drive 上傳 PDF → Claude API 擷取摘要 → Sheet 彙整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文獻追蹤：每週自動查 Semantic Scholar → 新引用 → Email 通知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GAS 研究自動化三大用途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F4F2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批次 PDF 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Google Drive 上傳 PDF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Apps Script 觸發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Claude API 擷取摘要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Google Sheet 彙整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E8EDF4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</a:rPr>
              <a:t>文獻追蹤通知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每週排程執行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Semantic Scholar API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查詢你論文的新引用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Email/TG 通知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3840480"/>
          </a:xfrm>
          <a:prstGeom prst="roundRect">
            <a:avLst>
              <a:gd name="adj" fmla="val 266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820"/>
                </a:solidFill>
              </a:rPr>
              <a:t>引用格式轉換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87452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Google Sheet 文獻清單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CrossRef API 取 metadata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自動生成 BibTeX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匯出 references.bib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GAS 快速上手：5 行搞定 PDF 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Google Apps Script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837590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analyzePDF() {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從 Drive 取得檔案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file = DriveApp.getFileById("FILE_ID");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呼叫 Claude API 分析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UrlFetchApp.fetch("https://api.anthropic.com/v1/messages", {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"POST",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{"x-api-key": "YOUR_KEY", "content-type": "application/json"},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payload: JSON.stringify({model: "claude-sonnet-4-6", messages: [{role: "user",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content: "Summarize this paper: " + file.getBlob().getDataAsString()}]})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結果寫入 Sheet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SpreadsheetApp.getActive().getSheetByName("Results")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.appendRow([file.getName(), JSON.parse(response).content[0].text]);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30632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30632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這段腳本用 AI 幫你寫 — 你只需說「幫我寫一個分析 Drive PDF 並寫入 Sheet 的 GAS 腳本」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611880"/>
            <a:ext cx="64008" cy="10058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68503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設定觸發器 → 全自動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032504"/>
            <a:ext cx="8394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事件觸發：新 PDF 上傳到 Drive → 自動分析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時間觸發：每週一早上 8 點 → 自動查新引用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一次設定，永久自動執行 — 你什麼都不用做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 Code：你的 AI 研究助手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E8F4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</a:rPr>
              <a:t>Claude Code = AI + 終端機 + 專案知識 — 在你的電腦上執行研究任務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不只是聊天，而是能讀寫檔案、執行程式碼、管理你的研究專案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安裝：npm install -g @anthropic-ai/claude-code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啟動：在你的研究專案目錄中輸入 claude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特色：能存取你的檔案 → 理解你的專案結構 → 主動執行任務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9D8A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Day 2 深入學習：CLAUDE.md + Skills + Agents + Commands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CLAUDE.md = AI 的「工作手冊」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2926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321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CLAUDE.md 核心結構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3895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引用處理原則（最高優先級）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只使用 references.bib 中存在的引用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絕不自行推測或添加新引用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發現引用問題時，指出而非自動修正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檔案操作原則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不刪除 data/raw/ 內的原始數據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不覆蓋既有檔案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所有產出放到 05_outputs/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專案目錄結構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01_literature/  → 文獻管理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02_research/    → 研究核心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03_manuscripts/ → 論文撰寫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04_presentations/ → 簡報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05_outputs/     → Claude 產出區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64008" cy="13716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503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為什麼需要 CLAUDE.md？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197864"/>
            <a:ext cx="4005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沒有「記憶」— 每次對話都是新開始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CLAUDE.md 讓 AI 一啟動就知道：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你是誰、在做什麼研究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引用的紅線（不能虛構）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檔案放在哪裡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 你的工作流程和偏好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31720"/>
            <a:ext cx="64008" cy="13716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4048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Skills / Agents / Commands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752344"/>
            <a:ext cx="4005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Skills (24 個)：專業知識庫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說「引用」自動觸發 bib-manager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Agents (8 個)：AI 專家團隊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citation-checker 只讀不改，安全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Commands (5 個)：一鍵工作流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/review-paper → 完整審查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9319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Day 2 深入教學：CLAUDE.md 撰寫 + Skills 系統 + Agents 協作 + Commands 自動化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438912"/>
          </a:xfrm>
          <a:prstGeom prst="roundRect">
            <a:avLst>
              <a:gd name="adj" fmla="val 12500"/>
            </a:avLst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範例展示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Claude Code Demo：批次驗證 DOI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FEF2E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77724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</a:rPr>
              <a:t>情境：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80467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你有一份 AI 產出的 50 個 DOI 清單，需要全部驗證正確性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AI 回覆：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$ claude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&gt; 請幫我驗證 seed_dois.txt 中所有 DOI 的正確性。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使用 CrossRef API 檢查每個 DOI 是否存在，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並比對 AI 產出的作者/年份是否與 CrossRef 一致。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將結果整理成表格：DOI | 狀態 | AI作者 | 實際作者 | 匹配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Claude Code 自動執行：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1. 讀取 seed_dois.txt（50 個 DOI）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2. 寫 Python 腳本呼叫 CrossRef API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3. 逐一驗證 → 比對 → 標記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4. 輸出驗證報告表格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  → 2 分鐘完成，手動需要 2 小時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手動 vs AI 自動化研究工作流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手動 Google Scholar 搜索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逐篇開 DOI 檢查是否存在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手動複製 BibTeX 到 .bib 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68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用 Excel 記錄文獻資訊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手動撰寫 Related 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請同事幫忙審閱引用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每篇文獻 ~15 分鐘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056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50 篇 = 12.5 小時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8F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After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AI 產出種子 DOI 清單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673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Claude Code 批次 API 驗證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0208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自動生成 references.bib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368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Obsidian 結構化知識圖譜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literature-synthesis 生成初稿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bib-manager + citation-checker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410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每篇文獻 ~2 分鐘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41056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50 篇 = 1.5 小時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核心技能回顧（10 項）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CARE Prompt 框架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結構化研究提問法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漸進式縮焦法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5 輪對話從寬到窄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Extended Thinking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think / think hard / ultrathink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種子 DOI 生成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9659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AI 產出 + 必須驗證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CrossRef API 驗證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DOI 存在性 + metadata 比對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Semantic Scholar / OpenAlex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Abstract + 引用數 + OA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核心技能回顧（續）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Zotero 文獻管理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4 種匯入方式 + PDF 管理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Obsidian 知識圖譜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筆記卡 + 雙向連結 + Graph 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BibTeX 引用管理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黃金規則：不添加未驗證引用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384048" cy="38404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Research Gap 識別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1488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三層法 + 文獻矩陣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動手練習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Day 1 綜合實作練習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694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30 分鐘 — 個人實作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用 CARE 框架寫 3 個研究 Prompt（不同角度）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與 AI 進行 5 輪漸進式對話，確定研究方向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579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用 AI 產出 10 個種子 DOI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06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883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用 CrossRef API 驗證至少 5 個 DOI 正確性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218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建立 3 篇 Obsidian 文獻筆記卡（含雙向連結）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建立 references.bib（至少 5 篇驗證過的引用）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2793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（進階）用 Semantic Scholar 取 Abstract 做相關性評分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828032"/>
            <a:ext cx="347472" cy="347472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828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8097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（進階）嘗試 Research Gap 識別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回家作業（可選）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基礎任務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39136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擴充文獻到 20 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（全部經 CrossRef API 驗證）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完成 Research Gap 分析初稿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（含文獻分類矩陣）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寫一份 1 頁研究方向說明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（含 Gap + 貢獻 + 預期成果）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18288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進階任務（Day 2 前準備）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43584"/>
            <a:ext cx="40050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安裝 Claude Code CLI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npm i -g @anthropic-ai/claude-code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安裝 Quarto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brew install quarto (Mac)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準備至少 5 篇 PDF 文獻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（Day 2 會用 AI 分析）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0779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Day 2 預告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8394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Session 3：IMRaD 論文架構 + QMD/YAML + 實驗設計 + GPU 遠端執行 + TG Bot 監控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Session 4：BibTeX 進階 + 學術寫作 + SVG 向量圖 + Claude Code 深度體驗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Session 5：七維度品質審查 + Claude×ChatGPT×Gemini 平行審查 + 投稿策略 + 系統部署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明天，你將擁有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一個完整的 AI 研究團隊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0F9D8A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24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paper-review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bib-manager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statistical-validation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evidence-indexer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mvp-gatekeeper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...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E6A820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8 Agents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research-orchestrator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literature-researcher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paper-writer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citation-checker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paper-reviewer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0A7A6B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5 Commands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/review-paper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/analyze-literature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/analyze-experiment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/prepare-submission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/respond-reviewers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34B6E">
              <a:alpha val="7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645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5 APIs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CrossRef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Semantic Scholar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OpenAlex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Claude API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F0EB"/>
                </a:solidFill>
              </a:rPr>
              <a:t>Zotero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 2：從 AI 助教 升級為 AI 研究團隊 — 8 個專家 Agent 各司其職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Day 1 完成！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你已經掌握了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AI 研究的基礎功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9D8A"/>
                </a:solidFill>
              </a:rPr>
              <a:t>明天，讓這些基礎功升級為完整的研究系統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Day 1 完成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AI 研究基礎 — 從概念到文獻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57"/>
                </a:solidFill>
              </a:rPr>
              <a:t>明天見！帶著你的文獻系統來 Day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Workshop - Day 1 Full</dc:title>
  <dc:subject>PptxGenJS Presentation</dc:subject>
  <dc:creator>Alan Chen</dc:creator>
  <cp:lastModifiedBy>Alan Chen</cp:lastModifiedBy>
  <cp:revision>1</cp:revision>
  <dcterms:created xsi:type="dcterms:W3CDTF">2026-03-07T14:26:30Z</dcterms:created>
  <dcterms:modified xsi:type="dcterms:W3CDTF">2026-03-07T14:26:30Z</dcterms:modified>
</cp:coreProperties>
</file>