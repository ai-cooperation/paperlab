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400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Paper Workshop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Day 2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AI 研究進階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857"/>
                </a:solidFill>
              </a:rPr>
              <a:t>從論文架構到投稿策略的完整 AI 寫作系統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L2D1 中階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E6A820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54880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Smart Manufacturing Research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754880"/>
            <a:ext cx="4206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cooperation.tw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2 課程安排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Day 1 回顧 + 概念升級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822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09:00-09:20（20 min）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從 AI 助教升級到 AI 研究團隊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Session 3：論文架構設計與實驗規劃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4447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09:20-12:00（145 min）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IMRaD + QMD/YAML + GPU + TG Bot + 統計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12264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0665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Session 4：QMD + BibTeX 論文撰寫系統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066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13:00-14:45（105 min）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3408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各章節寫作策略 + SVG + Claude Code 深度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34056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6883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Session 5：多維度分析 &amp; 品質保證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6883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15:00-16:30（90 min）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9626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七維度審查 + 平行審查 + 投稿策略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55848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310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總結與下一步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16:30-17:30（60 min）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584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系統部署 + 學習路徑 +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回顧：已掌握的核心技能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8F8F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097280"/>
            <a:ext cx="640080" cy="6400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CARE 框架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Context-Ask-Refine-Extract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結構化 Prompt 設計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8F8F0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097280"/>
            <a:ext cx="640080" cy="6400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種子 DOI 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CrossRef / Semantic Scholar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OpenAlex API 驗證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8F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9240" y="1097280"/>
            <a:ext cx="640080" cy="6400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Zotero + Obsidian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文獻管理 + 知識圖譜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筆記卡雙向連結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91440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8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3800" y="1097280"/>
            <a:ext cx="640080" cy="6400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Gap 分析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331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三層 Research Gap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創新性定位策略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概念升級：從 AI 助教 → AI 研究團隊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Day 1 = 一對一助教    Day 2 = 八位專家組成的研究團隊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每位 Agent 各司其職：文獻、寫作、審查、統計、投稿...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literature-researcher → 文獻搜索與 Gap 識別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paper-writer → 論文撰寫與潤稿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citation-checker → 引用驗證（唯讀，安全不改檔）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467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paper-reviewer → 七維度論文審查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3075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data-validator → 數據品質 + 過擬合檢測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stats-validator → Bootstrap + 效果量 + 統計功效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49884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4988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submission-helper → Cover Letter + 投稿準備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8289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88289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research-orchestrator → 工作流程協調中樞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今日路線圖：論文產出完整流程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97280"/>
            <a:ext cx="1627632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9659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論文架構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3774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IMRaD 設計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QMD/YAML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圖表規劃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65376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627632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48256" y="19659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實驗規劃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23774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GPU 環境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TG 監控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統計驗證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0168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1097280"/>
            <a:ext cx="1627632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9659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論文撰寫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3774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各章策略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SVG 圖表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BibTeX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22976" y="1097280"/>
            <a:ext cx="1627632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19659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品質審查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3774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七維度評分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平行審查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引用驗證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1097280"/>
            <a:ext cx="1627632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81544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19659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投稿策略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23774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期刊匹配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Cover Letter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投稿打包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38404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目標：走完 Phase 4-11，掌握從架構設計到投稿送出的完整 AI 輔助流程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論文架構設計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與實驗規劃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09:20-12:00 | IMRaD + QMD + GPU + 統計驗證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IMRaD 標準論文架構（25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Introduction → Methods → Results → and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90% 以上 SCI/SCIE 期刊採用的標準架構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I (Introduction)：背景 → 問題 → 目的 → 貢獻聲明（漏斗式寫法）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M (Methods)：問題定義 → 系統架構 → 演算法 → 物理約束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 (Results)：實驗設置 → 主結果 → Ablation → 統計驗證 → 錯誤分析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aD (Discussion)：意義分析 → 邊界條件 → 限制坦承 → 未來展望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三個「必寫」附件：Abstract + Keywords + Highlights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Introduction：漏斗式寫法四步驟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868680"/>
            <a:ext cx="7772400" cy="822960"/>
          </a:xfrm>
          <a:prstGeom prst="roundRect">
            <a:avLst>
              <a:gd name="adj" fmla="val 6667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868680"/>
            <a:ext cx="54864" cy="8229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868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Layer 1：大背景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8686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全球/產業趨勢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「能源效率已成為...」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783080"/>
            <a:ext cx="6217920" cy="822960"/>
          </a:xfrm>
          <a:prstGeom prst="roundRect">
            <a:avLst>
              <a:gd name="adj" fmla="val 6667"/>
            </a:avLst>
          </a:prstGeom>
          <a:solidFill>
            <a:srgbClr val="E8EDF4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783080"/>
            <a:ext cx="54864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Layer 2：具體問題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現有方法的不足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「然而，傳統 NILM...」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69748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E8F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2697480"/>
            <a:ext cx="54864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2697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Layer 3：本研究方法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697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你的解決方案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「本研究提出 HTF-CNN...」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6118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FFE0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3611880"/>
            <a:ext cx="54864" cy="82296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6118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0"/>
                </a:solidFill>
              </a:rPr>
              <a:t>Layer 4：貢獻聲明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611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2-3 點具體貢獻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(1) 首次將... (2) 提出...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Methods + Results 撰寫策略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問題定義（數學形式化）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系統架構（必配圖）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演算法流程（偽代碼）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物理約束 &amp; 假設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可重現細節：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  - 超參數表格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  - 硬體配置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  - 訓練/測試比例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實驗設置（數據集描述）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主結果表格（vs Baseline）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Ablation Study（驗證必要性）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統計顯著性（p-value）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錯誤案例分析（提高可信度）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計算成本比較（可選）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結果意義分析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為什麼你的方法有效？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邊界條件在哪裡？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限制性坦承（加分項）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未來工作（具體 2-3 點）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與現有方法的本質區別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論文圖表配置策略：Claim → Evidence 追溯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圖/表編號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類型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對應 Claim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數據來源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Fig. 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系統架構圖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研究方法的整體設計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手繪/SVG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Fig.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數據預處理流程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時頻轉換方法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code/preprocess.py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Table 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數據集統計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實驗規模與代表性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data/*.csv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Table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主結果比較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優於 Baseline 的證據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results/*.json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Fig.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混淆矩陣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分類效能的細節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results/*.json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Table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Ablation Study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各組件貢獻的證據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ablation/*.json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Fig. 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錯誤案例分析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模型限制的誠實揭示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error_analysis/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evidence-indexer skill：自動追溯 Claim → Table/Figure → Result File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MD → QMD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YAML 檔頭設定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從 Markdown 到 QMD（30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Markdown + YAML 檔頭 = Quarto 論文 → PDF + TeX + DOCX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寫作門檻最低的學術排版方案：一份源碼，多種輸出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1：用熟悉的 Markdown 寫內容（語法零學習成本）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2：加上 YAML 檔頭 → 定義期刊格式、作者、引用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3：quarto render → 自動生成 PDF / TeX / DOCX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支援數學公式（LaTeX 語法）、交叉引用、BibTeX 引用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4 大期刊格式一鍵切換：Elsevier / IEEE / Springer / MDPI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YAML 檔頭完整範例（Elsevier/SETA 配置）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754880" cy="3931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paper.qmd — YAML 檔頭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45354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"Hybrid Time-Frequency CNN..."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Chung-Kuang Chen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affiliations: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NTUST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department: GIMT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abstract: |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 study proposes...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bibliography: references.bib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csl: elsevier-vancouver-author-date.csl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elsevier-pdf: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keep-tex: true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journal: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SETA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cite-style: authoryear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classoption: [preprint, review, 12pt]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77724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77724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8503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關鍵欄位說明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197864"/>
            <a:ext cx="3456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bibliography → 引用檔案路徑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csl → 引用格式樣式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format → 輸出格式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keep-tex → 保留 .tex 源碼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classoption → 期刊排版選項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2788920"/>
            <a:ext cx="3657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2788920"/>
            <a:ext cx="64008" cy="19202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28620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支援的期刊格式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3209544"/>
            <a:ext cx="34564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Elsevier → elsevier-pdf (authoryear)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IEEE → ieee-pdf (journal)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Springer → springer-pdf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MDPI → mdpi-pdf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 秒切換：改 format + csl 即可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四大期刊格式一鍵切換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828800"/>
                <a:gridCol w="21031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期刊體系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 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classoption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csl 檔案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特色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Elsevier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elsevier-pdf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authoryear, preprint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elsevier-vancouver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最多 SCI 期刊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IEEE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ieee-pdf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journal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ieee.csl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工程領域首選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Springer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springer-pdf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(預設)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springer-basic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Nature 系列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MDPI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mdpi-pdf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(預設)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mdpi.csl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OA 期刊首選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017520"/>
            <a:ext cx="8595360" cy="15087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84048" y="307238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一行指令渲染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3383280"/>
            <a:ext cx="8375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PDF（同時產生 .tex）        # Word（給合作者修改）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paper.qmd       quarto render paper.qmd --to docx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保留 .tex（直接上傳 Overleaf）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paper.qmd --keep-tex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實驗設計 + IDE 工作流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+ 遠端 GPU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實驗設計六要素 + Skill 支援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1. 基線選擇 (Baseline)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baseline-min-set skill：根據貢獻類型推薦最小基線集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2. 消融實驗 (Ablation)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ablation-min-proof skill：設計最小消融方案證明組件必要性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3. 數據分割 (Split)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split-leakage-audit skill：檢測時間/實體洩漏風險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4. 統計驗證 (Statistics)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statistical-validation skill：Bootstrap + 效果量 + P0-P2 分級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5. 可重現性 (Reproducibility)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seed=42 + YAML 配置 + NumpyEncoder + metric-audit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6. 計算預算 (Compute)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GPU 使用率 &gt; 60% 驗證 + TG Bot 三層監控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IDE 工作流：VS Code 四大 Extension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Py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Python Extension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IntelliSense 智能補全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Jupyter Notebook 整合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Debug 斷點除錯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虛擬環境切換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22960"/>
            <a:ext cx="201168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Q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Quarto Extension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即時預覽論文 PDF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YAML 語法提示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Markdown 學術語法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交叉引用跳轉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22960"/>
            <a:ext cx="201168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SSH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Remote-SSH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連接遠端 GPU 伺服器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本地 VS Code 操作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檔案同步 + Terminal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無縫切換本地/遠端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D4F0E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822960"/>
            <a:ext cx="2011680" cy="54864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CC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A6B"/>
                </a:solidFill>
              </a:rPr>
              <a:t>Claude Code CLI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6772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終端機 AI 研究助手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24 Skills 自動載入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程式碼生成 + 除錯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論文撰寫 + 審查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三層 GPU 執行環境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環境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費用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適合場景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本地 MacBook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無/MPS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開發 + 調試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免費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程式碼撰寫、小數據測試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Google Colab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T4 / A100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原型驗證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免費~$10/月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快速實驗、教學展示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遠端 3090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RTX 3090 24GB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完整實驗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電費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正式訓練、大規模實驗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84048" y="30723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Colab 快速設定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" y="3383280"/>
            <a:ext cx="38953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drive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drive.mount('/content/drive')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torch torchvision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!python train.py --epochs 100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0" y="3017520"/>
            <a:ext cx="429768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81728" y="307238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遠端 3090 標準流程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81728" y="3383280"/>
            <a:ext cx="407822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ac-3090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gpu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PYTHONUNBUFFERED=1 \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nohup python -u train.py \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exp.log 2&gt;&amp;1 &amp;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nvidia-smi  # 1min 內檢查 GPU&gt;60%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遠端 GPU 實驗：必要步驟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環境初始化 + 啟動驗證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明確初始化 Conda：source ~/miniconda3/etc/profile.d/conda.sh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啟用正確環境：conda activate gpu（不要用 base）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無緩衝輸出：PYTHONUNBUFFERED=1 python -u（即時看日誌）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持久化執行：nohup ... &amp; 或 tmux（SSH 斷線不中斷）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 分鐘內驗證：nvidia-smi 確認 GPU 使用率 &gt; 60%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若 GPU &lt; 30% → 立即停止，檢查 model.to(device)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TG Bot 實驗監控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手機掌控 GPU 狀態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3.4 Telegram Bot 三層實驗監控（20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實驗投入 GPU → 手機即時掌控 → 異常自動通知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讓你安心離開電腦，實驗狀態盡在掌握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Level 1（即時）：啟動 1 分鐘檢查 GPU、5 分鐘檢查日誌輸出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Level 2（定期）：每 15 分鐘確認進程存在 + GPU + 日誌更新時間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Level 3（異常通知）：進程消失 / 日誌 10 分鐘未更新 / OOM 錯誤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TG Bot 指令：/check（GPU）、/all（完整報告）、/log（日誌）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自動通知範例：OOM → 手機收到通知 + 建議減少 batch_size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TG Bot 異常通知實例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RTX 3090 上訓練 HTF-CNN 模型，batch_size=256，第 47 epoch 觸發 OOM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[TG Bot 自動通知]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!! GPU 異常警報 !!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主機: ac-3090 | GPU: RTX 3090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狀態: CUDA Out of Memory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時間: 2026-03-06 14:23:07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詳情: RuntimeError: CUDA OOM at epoch 47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已用顯存: 23.8GB / 24GB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建議處理方式: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1. 減少 batch_size (256 -&gt; 128)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2. 啟用 gradient checkpointing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3. 使用 mixed precision (fp16)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Phase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Skill 驅動的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自動化統計驗證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自動化統計驗證流程（25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97280"/>
            <a:ext cx="2068830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297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指令觸發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/analyze-experiment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results.json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6574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4590" y="1097280"/>
            <a:ext cx="2068830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896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4896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8945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數據驗證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774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data-validator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品質 + 過擬合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12564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1097280"/>
            <a:ext cx="2068830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495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95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544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統計分析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373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stats-validator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Bootstrap + 效果量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18554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6570" y="1097280"/>
            <a:ext cx="2068830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094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6094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143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分級報告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972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P0-P3 分級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論文用文本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8404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一條指令完成：數據品質 → 統計驗證 → P0-P3 分級 → 可直接貼入論文的文字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數據一致性三角驗證：Text ↔ Table ↔ Figure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論文中的每個數字必須三方一致，不一致 = P0 致命問題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figure-table-checker + evidence-indexer 自動掃描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Text：「本方法 F1 達到 0.848...」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Table 2：F1 = 0.8488（保留四位小數）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Figure 3：混淆矩陣計算得 F1 = 0.848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467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不一致案例：F1=0.820（文中）vs 0.8488（表中）→ P0 問題！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3075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Claim → Evidence 追溯鏈：evidence-indexer skill 自動建立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修正流程：results/*.json → EXPERIMENT_RESULTS.md → paper.qmd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統計方法選擇指南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743200"/>
                <a:gridCol w="2194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場景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推薦方法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何時使用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 級別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兩組比較 (正態)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配對 t-test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樣本 &gt; 30、常態分佈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P1（未做則缺失）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兩組比較 (非正態)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Mann-Whitney 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小樣本、非常態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多組比較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Friedman + Nemenyi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多模型排名比較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信賴區間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Bootstrap (10K)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任何分佈皆可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P0（強烈建議）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效果量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Cohen's 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量化差異實際大小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統計功效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Power Analysis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樣本量是否足夠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Shape 4"/>
          <p:cNvSpPr/>
          <p:nvPr/>
        </p:nvSpPr>
        <p:spPr>
          <a:xfrm>
            <a:off x="274320" y="4206240"/>
            <a:ext cx="6400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062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常見陷阱：只報 p &lt; 0.05 不報效果量 → 審稿人質疑「統計顯著但實際差異微小」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3.6 可重現性設計五原則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固定隨機種子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seed=42 + torch.manual_seed + np.random.seed + cudnn.deterministic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參數配置文件化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YAML/JSON 儲存所有超參數，不在程式碼中寫死（magic number）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結果 JSON 可序列化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使用 NumpyEncoder 處理 numpy/tensor 類型，確保可存取可重讀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指標定義一致性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metric-audit skill：確認 macro/micro/weighted F1 定義統一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數字流管道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results/*.json → EXPERIMENT_RESULTS.md → paper.qmd（唯一真相來源）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動手練習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思考練習 1：論文架構設計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694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15 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為你的研究畫出 IMRaD 各章節大綱（標題 + 2-3 句摘要）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列出預計的圖表清單（編號 + 類型 + 對應 Claim）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579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建立 QMD 檔案，填入 YAML 檔頭（選擇你的目標期刊格式）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定義實驗設計六要素：Baseline / Ablation / Split / 統計方法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18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（進階）設定 quarto render 並產出第一份 PDF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QMD + BibTeX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論文撰寫系統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13:00-14:45 | 寫作策略 + SVG + Claude Code 深度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4.1 各章節撰寫策略（30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IMRaD 對應撰寫順序：Methods → Results → Introduction → Discussion → Abstract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不要從 Introduction 開始寫！先寫你最確定的部分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Methods：最先寫 — 你最了解自己做了什麼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Results：第二寫 — 用數據說話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Introduction：第三寫 — 知道結果後才能精準定位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Discussion：第四寫 — 回應 Introduction 的問題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Abstract：最後寫 — 濃縮全文精華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各章節 AI 輔助策略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倒金字塔 + 貢獻聲明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協助：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產業趨勢數據收集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Research Gap 論述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貢獻聲明精煉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Skill: innovation-positioning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Methods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圖表先行、AI 生文字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協助：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流程圖描述文字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演算法偽代碼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數學公式排版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Skill: academic-writing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Results+Disc.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數據表 → AI 統計分析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協助：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統計結果解讀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圖表描述文字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- 限制性坦承措辭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Skill: statistical-validation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轉投期刊策略：5 步快速調整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分析目標期刊熱點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抓取目標期刊近 100 篇標題 → AI topic clustering → 識別當前熱點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分析主編偏好：Google Scholar profile + 最近 Editorial 內容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調整 Title：對齊期刊熱門關鍵詞（避免太窄或太廣）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調整 Abstract + Intro 第一段：引用該期刊近期文章（表示你了解它）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修改 YAML format + CSL → quarto render → 新格式 PDF（5 秒完成）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journal-fit skill：自動評估你的論文與目標期刊的適配度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轉投案例：Energy &amp; Buildings → SETA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Title: CNN-based NILM for Industrial...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Format: Elsevier (Energy &amp; Buildings)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Abstract: 強調 building energy...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68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Keywords: building, energy efficiency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引用: EB 相關文獻為主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CSL: elsevier-with-titles.csl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Scope 不完全匹配 → 可能 Desk Reject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8F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Title: Hybrid Time-Frequency CNN for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673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   Industrial NILM with LLM-enhanced...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Format: Elsevier (SETA)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368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Abstract: 強調 sustainable energy...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Keywords: sustainable, technology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063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引用: 加入 SETA 近期文章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CSL: elsevier-vancouver.csl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 秒切換 → quarto render → 新 PDF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Phase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SVG 向量圖 +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QMD → TeX 快速轉換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為什麼需要 SVG 向量圖？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8F4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</a:rPr>
              <a:t>PNG/JPG 點陣圖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放大後模糊（像素化）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300 DPI 以上檔案很大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無法後續編輯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螢幕截圖品質不穩定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某些期刊直接退回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8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SVG/PDF 向量圖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無限放大不失真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檔案小、品質高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可用 Inkscape 後編輯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5237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期刊要求 300+ DPI 自動滿足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• 專業學術出版標準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Python 三格式圖表輸出 + QMD 引用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38912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Python 儲存三格式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41696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plt.subplots(figsize=(8, 5))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ax.set_xlabel('Epoch')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ax.set_ylabel('F1 Score')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三格式輸出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fig.savefig('fig.svg', format='svg')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fig.savefig('fig.pdf', format='pdf')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fig.savefig('fig.png', dpi=300)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83210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QMD 引用圖片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6048" y="1143000"/>
            <a:ext cx="3803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![F1 趨勢](fig.pdf){#fig-f1 width="100%"}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 @fig-f1 所示，F1 在 epoch 50 後趨穩。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920240"/>
            <a:ext cx="64008" cy="86868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99339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7A6B"/>
                </a:solidFill>
              </a:rPr>
              <a:t>Inkscape 後處理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40864"/>
            <a:ext cx="3822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SVG → PDF/EPS（某些期刊要求）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inkscape fig.svg --export-pdf=fig.pdf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1554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02666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QMD → TeX + PDF 一行完成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337560"/>
            <a:ext cx="8375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同時得到 PDF + TeX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paper.qmd             # → paper.pdf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paper.qmd --keep-tex  # → paper.pdf + paper.tex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.tex 可直接上傳 Overleaf 或期刊系統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4.3 BibTeX 進階管理（10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引用格式 + CSL 切換 + 雙重防呆 = 零引用錯誤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黃金規則：絕不添加 references.bib 中不存在的引用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基本語法：@citekey（如 @Chen2024）或 [@a; @b]（多引用）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CSL 樣式一鍵切換：APA / IEEE / Elsevier / Springer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bib-manager skill：檢測重複 key、缺失欄位、格式錯誤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citation-checker agent：逐筆驗證 DOI 有效性 + 作者正確性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雙重防呆：AI 絕不自行添加引用 + 發現問題只指出不修正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動手練習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實作練習 2：QMD 論文撰寫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694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15 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建立 QMD 論文骨架（含完整 YAML 檔頭 + 目標期刊格式）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設定 bibliography: references.bib + csl 樣式檔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579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撰寫 Abstract 初稿（200 字以內，結構：背景-方法-結果-結論）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加入 3 個引用（@citekey 格式），quarto render 驗證格式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18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（進階）用 Python 產出一張 SVG 圖並嵌入 QMD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（進階）嘗試切換期刊格式，觀察 PDF 差異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Claude Code 深度體驗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+ Skill 自動化 Demo</a:t>
            </a:r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14:15-14:45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Claude Code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自動化工作流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CLAUDE.md + 24 Skills + 8 Agents + 5 Commands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CLAUDE.md：AI 的工作手冊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一份 Markdown 檔案，定義 AI 在你專案中的所有行為規範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放在專案根目錄，Claude Code 啟動時自動讀取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引用處理原則：只使用 references.bib 中的引用，絕不推測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檔案操作原則：不刪除原始數據、不覆蓋既有檔案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驗證原則：寫入後必須驗證、宣稱前先確認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467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目錄結構定義：01_literature / 02_research / 03_manuscripts 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3075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實驗執行規範：seed=42 / GPU 驗證 / 三層監控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相當於團隊的「工作守則」— AI 也需要 SOP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Skills 系統：24 個專業知識庫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19659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503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基礎 Skills（14 個）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97864"/>
            <a:ext cx="391363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paper-review-skill → 七維度評分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bib-manager → BibTeX 管理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literature-synthesis → 文獻綜述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journal-submission → 投稿流程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figure-table-checker → 圖表一致性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innovation-positioning → 創新定位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academic-writing → 學術寫作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statistical-validation → 統計驗證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297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777240"/>
            <a:ext cx="64008" cy="1965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5039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進階 Research Agent Skills（10 個）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197864"/>
            <a:ext cx="40965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mvp-gatekeeper → MVP 門檻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journal-fit → 期刊適配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split-leakage-audit → 數據洩漏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evidence-indexer → 證據追溯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research-contract → 研究契約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ablation-min-proof → 消融證明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metric-audit → 指標審計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baseline-min-set → 基線最小集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submission-bundle → 投稿打包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rebuttal-matrix → 回覆矩陣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9260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觸發機制：用戶輸入 → 語義匹配 → 自動載入對應 Skill → 應用專業知識指導 AI 回覆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74720"/>
            <a:ext cx="64008" cy="123444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54787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8 個 AI 專家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8394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唯讀（安全）: citation-checker, paper-reviewer | 讀寫: paper-writer, submission-helper | 執行: data-validator, stats-validator | 協調: research-orchestrator, literature-researcher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個一鍵工作流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200400"/>
                <a:gridCol w="2194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觸發的 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產出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/review-paper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論文全面審查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citation-checker → data-validator → paper-reviewer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七維度評分 + P0-P3 清單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/analyze-experiment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實驗分析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data-validator → stats-validator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統計分析報告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/prepare-submission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投稿準備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paper-reviewer → submission-helper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Cover Letter + 檢查清單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/analyze-literature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文獻分析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literature-researcher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Gap 分析 + 綜述大綱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/respond-reviewers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審稿回覆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rebuttal-matrix → paper-writer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回覆信草稿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42062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每個 Command = 多個 Agent 串接執行 → 一條指令完成原本需要數小時的工作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 1: /review-paper 論文審查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對 SETA 論文執行完整七維度審查，自動串接 3 個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$ /review-paper paper.qmd "SETA"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[citation-checker] 掃描 47 筆引用...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2 筆 DOI 無效、1 筆作者名不匹配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[data-validator] 檢查數據一致性...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Table 2 F1=0.848 vs 文中 F1=0.82 → P0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[paper-reviewer] 七維度評分: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結構 8/10 | 方法 7/10 | 實驗 6/10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數據 5/10 | 寫作 8/10 | 引用 7/10 | 創新 7/10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P0 問題: 2 個 | P1: 3 個 | P2: 5 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Demo 2: /prepare-submission 投稿準備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一鍵生成 Cover Letter + 投稿檢查清單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$ /prepare-submission "SETA"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[paper-reviewer] 最終審查通過（0 個 P0）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[submission-helper] 生成 Cover Letter: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Dear Editor,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We submit our manuscript entitled "Hybrid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Time-Frequency CNN..." for consideration in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Sustainable Energy Technologies and Assessments.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投稿檢查: 10/10 項完成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包含: PDF + TeX + Cover Letter + SVG figures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+ Highlights + Author Statement + Data Avail.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多維度分析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&amp; 品質保證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15:00-16:30 | 審查 + 平行 AI + 引用驗證 + 投稿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5.1 七維度論文分析系統（20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結構 | 方法 | 實驗 | 數據 | 寫作 | 引用 | 創新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每個維度 1-10 分，搭配 P0-P3 問題分級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結構完整性：IMRaD 完整？章節比例合理？邏輯連貫？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方法論嚴謹性：數學嚴謹？物理約束？可重現？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實驗設計：Baseline 足夠？Ablation 完整？統計有效？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467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數據可信度：Text ↔ Table ↔ Figure 三方一致？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3075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寫作清晰度：學術語氣？段落邏輯？Grammar？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引用完整性：DOI 有效？作者正確？覆蓋近 3 年？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49884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4988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創新貢獻：超越應用？有方法論貢獻？定位精準？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P0-P3 問題分級系統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P0 致命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777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必須修正，否則 Desk Reject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數據不一致、引用造假、結論無支撐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FEF2E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83080"/>
            <a:ext cx="64008" cy="91440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3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A"/>
                </a:solidFill>
              </a:rPr>
              <a:t>P1 嚴重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審稿人一定會指出，Major Revision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缺少 Baseline 比較、統計不足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788920"/>
            <a:ext cx="64008" cy="91440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820"/>
                </a:solidFill>
              </a:rPr>
              <a:t>P2 重要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2788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可能被要求修改，Minor Revision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圖表品質不佳、寫作不夠清晰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8595360" cy="914400"/>
          </a:xfrm>
          <a:prstGeom prst="roundRect">
            <a:avLst>
              <a:gd name="adj" fmla="val 6000"/>
            </a:avLst>
          </a:prstGeom>
          <a:solidFill>
            <a:srgbClr val="E8F4F2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94760"/>
            <a:ext cx="64008" cy="9144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</a:rPr>
              <a:t>P3 次要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錦上添花，改了更好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794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排版微調、用詞優化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MVP 門檻檢查：mvp-gatekeeper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Gate 1: 研究問題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明確定義？與現有文獻有區別？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Gate 2: 方法論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技術上可行？有理論支撐？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Gate 3: 實驗設計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Baseline 足夠？統計有效？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Gate 4: 數據支撐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所有 Claim 都有 Evidence？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Gate 5: 寫作完成度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所有章節完成？語言品質達標？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Gate 6: 投稿就緒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格式正確？附件齊全？Cover Letter？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多 AI 協作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Claude × ChatGPT × Gemini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平行審查策略</a:t>
            </a:r>
            <a:endParaRPr 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5.2 為什麼需要多 AI 平行審查？（25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單一 AI 有盲點 → 多 AI 交叉檢查 → 覆蓋率最大化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不同模型擅長不同面向 → 互補而非替代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Claude Code：系統化 Skill 生態系，七維度評分 + 引用驗證 + 數據一致性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ChatGPT (GPT-4o)：結構/寫作流暢度，段落邏輯、Grammar、可讀性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Gemini (2.5 Pro)：事實查核/長文檢索，引用事實核對、最新文獻覆蓋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三者交叉：Claude 找數據問題 + ChatGPT 找寫作問題 + Gemini 找事實問題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人工整合：三份報告合併 → 去重 → P0-P3 排序 → 修改優先級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 AI 分工策略表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56032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工具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強項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審查重點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使用方式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Claude Code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系統化 + Skill 生態系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七維度評分 + P0-P3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引用驗證 + 數據一致性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/review-paper 自動化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ChatGPT (GPT-4o)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結構 + 寫作流暢度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段落邏輯 + Grammar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論述連貫性 + 可讀性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Custom GPT / Prompt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Gemini 2.5 Pro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事實查核 + 長文檢索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引用事實核對 + 數據聲明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最新文獻覆蓋度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NotebookLM / Deep Research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0040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320040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建議順序：Claude（自動化最快）→ ChatGPT（寫作）→ Gemini（事實查核）→ 人工整合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平行審查操作流程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Claude Code（自動化）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/review-paper paper.qmd "SETA"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→ citation-checker → data-validator → paper-reviewer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→ 輸出：七維度評分 + P0-P3 問題清單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優勢：全自動、可重複、有 Skill 知識庫支撐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耗時：約 3-5 分鐘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平行審查操作流程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ChatGPT（寫作審查）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Prompt: "Review this paper as a senior reviewer for [journal]."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"Focus on: structure, argumentation flow, writing clarity,"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"and paragraph-level logic. List issues by severity."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輸出：寫作/邏輯問題清單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優勢：自然語言流暢度判斷最強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耗時：約 5-10 分鐘（含 Prompt 調整）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平行審查操作流程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Gemini Deep Research（事實查核）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Prompt: "Fact-check all claims and citations in this paper."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"Verify: (1) cited papers exist (2) claims match source"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"(3) any missing recent key references (2023-2026)."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輸出：事實核查報告 + 遺漏文獻清單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優勢：Deep Research 可深入交叉比對原始文獻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9D8A"/>
                </a:solidFill>
              </a:rPr>
              <a:t>•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耗時：約 10-15 分鐘（Deep Research 模式）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平行審查操作流程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人工整合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三份報告合併 → 去重（同一問題不同描述）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按 P0-P3 統一分級 → 建立修改優先級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P0 第一時間修正 → P1 本週內修正 → P2/P3 投稿前修正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修正後再跑一輪 Claude 驗證 → 確認 P0 = 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整合模板：parallel-review-template.md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案例：SETA 論文平行審查發現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同一篇 NILM 論文，三個 AI 分別找到不同問題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Claude Code 發現：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P0: Table 2 F1=0.848 vs 文中 F1=0.82（數據不一致）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P1: 2 筆引用 DOI 無效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ChatGPT 發現：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P1: Discussion 段 2→3 邏輯跳躍（缺銜接句）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P2: 全文 passive voice 比例 &gt; 70%（可讀性差）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Gemini 發現：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P1: @Lee2023 年份應為 2024（新版已更新）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P2: 缺少 2025 兩篇重要 survey（競爭力不足）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5.3 三層引用驗證（15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Layer 1：存在性驗證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DOI 是否有效？作者名是否正確？年份是否匹配？→ citation-checker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Layer 2：準確性驗證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你的引用主張是否與原文一致？有無斷章取義？→ 人工 + Gemini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Layer 3：完整性驗證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references.bib 中所有條目都有被引用嗎？有無孤立引用？→ bib-manager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圖表交叉引用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所有 @fig-x 和 @tbl-x 都有對應物件？編號是否連續？→ figure-table-checker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投稿前最後一關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Reviewer 預測與應對</a:t>
            </a:r>
            <a:endParaRPr lang="en-US" sz="3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5.4 AI 模擬審稿人提問（15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投稿前讓 AI 扮演嚴格審稿人，預測最可能的質疑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提前準備回答 → 直接強化論文 or 備好 Rebuttal 素材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Prompt："Act as a critical Reviewer 2 for [journal]..."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常見問題 1：「你的方法與 [existing method] 的本質區別？」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常見問題 2：「只在一個數據集上驗證，泛化性如何保證？」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467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常見問題 3：「缺少 computation cost 比較」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3075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常見問題 4：「統計顯著性不足，能否提供 confidence interval？」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rebuttal-matrix skill：建立問題-回答對照表，追蹤修改進度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案例：4 個預測問題與回答策略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AI 模擬 SETA 期刊審稿人，預測最可能的 4 個質疑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Q1: HTF-CNN vs 標準 CNN 的理論優勢？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→ 強化 Methods 中的頻域特徵分析段落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Q2: 只用工廠數據集，泛化性？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→ 補充 IMDELD 數據集實驗（已有 97.55%）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Q3: 實際部署的 inference 時間？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→ 新增 Table：inference time comparison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Q4: 1Hz 採樣的 Nyquist 限制影響？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→ Discussion 中坦承限制 + 提出未來高頻方案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Phase 10+11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投稿策略與流程</a:t>
            </a:r>
            <a:endParaRPr lang="en-US" sz="3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5.5 期刊選擇方法論：加權評分表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維度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Energy &amp; Buildings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Applied Energy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Scope 匹配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Impact Factor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7.2 (Good)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7.1 (Good)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11.2 (High)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審稿速度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3-4 個月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4-6 個月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6-8 個月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錄取率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~20%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~15%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方法論偏好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AI+可持續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建築節能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綜合能源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近期趨勢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NILM 相關文章多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較少 NILM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有 NILM 專題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42062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journal-fit skill：自動分析目標期刊近 100 篇文章，評估你的論文適配度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投稿素材 10 項清單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1. 論文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期刊格式 + 行號 + review 模式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2. 論文 .tex 源碼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quarto render --keep-tex 產出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3. Cover Letter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submission-helper agent 自動生成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4. 高解析度圖表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SVG/PDF/TIFF, 300+ DPI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5. Supplementary Material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補充實驗、詳細數據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6. Author Statement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CRediT 貢獻聲明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投稿素材 10 項清單（續）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7. Highlights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3-5 bullet points，每點 &lt; 85 字元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8. Graphical Abstract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800×400px 視覺摘要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9. Suggested Reviewers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3-5 人 + 理由（避免利益衝突）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10. Data Availability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聲明數據可取得性 + 代碼倉庫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submission-bundle skill：自動打包驗證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97280"/>
            <a:ext cx="2068830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297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格式檢查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YAML 欄位完整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期刊格式正確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6574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4590" y="1097280"/>
            <a:ext cx="2068830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896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4896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8945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內容檢查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774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圖表編號連續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引用完整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12564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1097280"/>
            <a:ext cx="2068830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495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95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544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檔案清單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373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10 項素材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逐一確認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18554" y="20574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6570" y="1097280"/>
            <a:ext cx="2068830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0945" y="12070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60945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1434" y="19659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最終打包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9722" y="23774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建立 ZIP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附檢查報告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8404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/prepare-submission "SETA" → 自動執行以上 4 步 → 產出 submission-ready.zip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16:30-17:30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總結與下一步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系統回顧 + 部署指南 + 學習路徑 + Q&amp;A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5.6 完整工作流回顧：10 Phase 全貌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方向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9144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51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文獻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9144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E6A820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051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9144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051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架構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9144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051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實驗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E6A82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432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監控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0" y="27432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01168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統計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16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27432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F9D8A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4904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撰寫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0" y="27432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E6A82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P9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審查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23760" y="27432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</a:rPr>
              <a:t>P10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2376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投稿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4124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▼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" y="4434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24 Skills + 8 Agents + 5 Commands — AI 參與度 65-70%，人類掌握核心決策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5.7 部署這套系統到你的研究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Step 1：安裝基礎工具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Claude Code CLI + Quarto + VS Code + Zotero + Obsidian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Step 2：解壓 research-workspace.zip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包含 24 Skills + 8 Agents + 5 Commands + 模板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Step 3：客製化 CLAUDE.md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修改研究主題、目標期刊、目錄結構、實驗規範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Step 4：建立 Obsidian Vault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匯入文獻筆記卡、建立雙向連結、啟用 Graph 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Step 5：設定 TG Bot（選修）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遠端 GPU 實驗監控 → 手機即時掌控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Step 6：開始第一篇論文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/analyze-literature → /review-paper → /prepare-submission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5.8 學習路徑規劃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本週行動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安裝所有工具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建立 research-workspace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整理 5 篇核心文獻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建立 QMD 論文骨架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用 CARE 框架探索方向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1 個月目標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完成完整文獻調研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確認 Research Gap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完成 Methods 初稿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設計實驗方案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建立 references.bib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Q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3 個月目標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完成實驗 + 統計驗證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撰寫完整論文初稿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通過七維度自我審查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三 AI 平行審查修正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投稿第一篇 SCI/SCIE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AI 不會取代研究者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但會用 AI 的研究者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將取代不會的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9D8A"/>
                </a:solidFill>
              </a:rPr>
              <a:t>開始使用這套系統，讓 AI 成為你的研究加速器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課程評估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852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評估項目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佔比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評估標準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D1 實作練習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CARE Prompt + API 驗證 3 DOI + 3 篇 Obsidian 筆記卡 + 5 篇 BibTeX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D2 實作練習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QMD 骨架 + Abstract + 3 引用 + SVG 圖（進階）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課堂參與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提問、討論、分享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研究方向報告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明確研究問題 + Gap 分析 + 期刊匹配初評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論文框架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完整 QMD 骨架 + BibTeX + 所有引用經 API 驗證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系統部署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安裝 research-workspace + Obsidian Vault 建立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Thank You!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開始你的 AI 輔助研究之旅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57"/>
                </a:solidFill>
              </a:rPr>
              <a:t>research-workspace.zip | CLAUDE.md | 24 Skills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Workshop - Day 2 Full</dc:title>
  <dc:subject>PptxGenJS Presentation</dc:subject>
  <dc:creator>Alan Chen</dc:creator>
  <cp:lastModifiedBy>Alan Chen</cp:lastModifiedBy>
  <cp:revision>1</cp:revision>
  <dcterms:created xsi:type="dcterms:W3CDTF">2026-03-07T14:26:30Z</dcterms:created>
  <dcterms:modified xsi:type="dcterms:W3CDTF">2026-03-07T14:26:30Z</dcterms:modified>
</cp:coreProperties>
</file>