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97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5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07960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C857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109728" cy="507034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6583680" y="-457200"/>
            <a:ext cx="3200400" cy="3200400"/>
          </a:xfrm>
          <a:prstGeom prst="ellipse">
            <a:avLst/>
          </a:prstGeom>
          <a:solidFill>
            <a:srgbClr val="0F9D8A">
              <a:alpha val="1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7132320" y="457200"/>
            <a:ext cx="2286000" cy="2286000"/>
          </a:xfrm>
          <a:prstGeom prst="ellipse">
            <a:avLst/>
          </a:prstGeom>
          <a:solidFill>
            <a:srgbClr val="FFC857">
              <a:alpha val="2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AI Paper Workshop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Day 2</a:t>
            </a:r>
            <a:endParaRPr lang="en-US" sz="4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AI 研究進階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C857"/>
                </a:solidFill>
              </a:rPr>
              <a:t>從論文架構到投稿策略的完整 AI 寫作系統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1280160" cy="310896"/>
          </a:xfrm>
          <a:prstGeom prst="roundRect">
            <a:avLst>
              <a:gd name="adj" fmla="val 17647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457200" y="365760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L2D1 中階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20240" y="3657600"/>
            <a:ext cx="1280160" cy="310896"/>
          </a:xfrm>
          <a:prstGeom prst="roundRect">
            <a:avLst>
              <a:gd name="adj" fmla="val 17647"/>
            </a:avLst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1920240" y="365760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24 Skills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3657600"/>
            <a:ext cx="1280160" cy="310896"/>
          </a:xfrm>
          <a:prstGeom prst="roundRect">
            <a:avLst>
              <a:gd name="adj" fmla="val 17647"/>
            </a:avLst>
          </a:prstGeom>
          <a:solidFill>
            <a:srgbClr val="0A7A6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3383280" y="365760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8 Agents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4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365760" y="4754880"/>
            <a:ext cx="45720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Smart Manufacturing Research Application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4754880"/>
            <a:ext cx="420624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cooperation.tw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Day 2 課程安排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11480" cy="41148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365760" y="868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</a:rPr>
              <a:t>Day 1 回顧 + 概念升級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8229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7A"/>
                </a:solidFill>
              </a:rPr>
              <a:t>09:00-09:20（20 min）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10972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從 AI 助教升級到 AI 研究團隊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490472"/>
            <a:ext cx="411480" cy="41148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365760" y="14904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144475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</a:rPr>
              <a:t>Session 3：論文架構設計與實驗規劃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44475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7A"/>
                </a:solidFill>
              </a:rPr>
              <a:t>09:20-12:00（145 min）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171907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IMRaD + QMD/YAML + GPU + TG Bot + 統計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112264"/>
            <a:ext cx="411480" cy="41148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365760" y="211226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206654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</a:rPr>
              <a:t>Session 4：QMD + BibTeX 論文撰寫系統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206654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7A"/>
                </a:solidFill>
              </a:rPr>
              <a:t>13:00-14:45（105 min）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2340864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各章節寫作策略 + SVG + Claude Code 深度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2734056"/>
            <a:ext cx="411480" cy="41148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365760" y="273405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0120" y="268833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</a:rPr>
              <a:t>Session 5：多維度分析 &amp; 品質保證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2688336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7A"/>
                </a:solidFill>
              </a:rPr>
              <a:t>15:00-16:30（90 min）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60120" y="296265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七維度審查 + 平行審查 + 投稿策略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3355848"/>
            <a:ext cx="411480" cy="41148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365760" y="33558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60120" y="33101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</a:rPr>
              <a:t>總結與下一步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0" y="331012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A6B7A"/>
                </a:solidFill>
              </a:rPr>
              <a:t>16:30-17:30（60 min）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0120" y="35844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系統部署 + 學習路徑 + Q&amp;A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Day 1 回顧：已掌握的核心技能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2011680" cy="3474720"/>
          </a:xfrm>
          <a:prstGeom prst="roundRect">
            <a:avLst>
              <a:gd name="adj" fmla="val 3636"/>
            </a:avLst>
          </a:prstGeom>
          <a:solidFill>
            <a:srgbClr val="E8F8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960120" y="1097280"/>
            <a:ext cx="640080" cy="64008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960120" y="1097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C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C5D"/>
                </a:solidFill>
              </a:rPr>
              <a:t>CARE 框架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3317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Context-Ask-Refine-Extract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結構化 Prompt 設計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68880" y="914400"/>
            <a:ext cx="2011680" cy="3474720"/>
          </a:xfrm>
          <a:prstGeom prst="roundRect">
            <a:avLst>
              <a:gd name="adj" fmla="val 3636"/>
            </a:avLst>
          </a:prstGeom>
          <a:solidFill>
            <a:srgbClr val="E8F8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3154680" y="1097280"/>
            <a:ext cx="640080" cy="64008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3154680" y="1097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56032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C5D"/>
                </a:solidFill>
              </a:rPr>
              <a:t>種子 DOI 搜索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60320" y="23317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CrossRef / Semantic Scholar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OpenAlex API 驗證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2011680" cy="3474720"/>
          </a:xfrm>
          <a:prstGeom prst="roundRect">
            <a:avLst>
              <a:gd name="adj" fmla="val 3636"/>
            </a:avLst>
          </a:prstGeom>
          <a:solidFill>
            <a:srgbClr val="E8F8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5349240" y="1097280"/>
            <a:ext cx="640080" cy="64008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5349240" y="1097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Z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75488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C5D"/>
                </a:solidFill>
              </a:rPr>
              <a:t>Zotero + Obsidian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54880" y="23317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文獻管理 + 知識圖譜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筆記卡雙向連結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58000" y="914400"/>
            <a:ext cx="2011680" cy="3474720"/>
          </a:xfrm>
          <a:prstGeom prst="roundRect">
            <a:avLst>
              <a:gd name="adj" fmla="val 3636"/>
            </a:avLst>
          </a:prstGeom>
          <a:solidFill>
            <a:srgbClr val="E8F8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7543800" y="1097280"/>
            <a:ext cx="640080" cy="64008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7543800" y="1097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G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94944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C5D"/>
                </a:solidFill>
              </a:rPr>
              <a:t>Gap 分析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49440" y="23317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三層 Research Gap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創新性定位策略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概念升級：從 AI 助教 → AI 研究團隊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Day 1 = 一對一助教    Day 2 = 八位專家組成的研究團隊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每位 Agent 各司其職：文獻、寫作、審查、統計、投稿...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literature-researcher → 文獻搜索與 Gap 識別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578608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57860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paper-writer → 論文撰寫與潤稿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962656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2962656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citation-checker → 引用驗證（唯讀，安全不改檔）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346704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346704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paper-reviewer → 七維度論文審查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73075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730752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data-validator → 數據品質 + 過擬合檢測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11480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11480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stats-validator → Bootstrap + 效果量 + 統計功效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4498848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449884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submission-helper → Cover Letter + 投稿準備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" y="4882896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4882896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research-orchestrator → 工作流程協調中樞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今日路線圖：論文產出完整流程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28600" y="1097280"/>
            <a:ext cx="1627632" cy="2377440"/>
          </a:xfrm>
          <a:prstGeom prst="rect">
            <a:avLst/>
          </a:prstGeom>
          <a:solidFill>
            <a:srgbClr val="0B3C5D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722376" y="120700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722376" y="12070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3C5D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83464" y="1965960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論文架構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1752" y="2377440"/>
            <a:ext cx="148132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IMRaD 設計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QMD/YAML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圖表規劃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65376" y="2057400"/>
            <a:ext cx="128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A"/>
                </a:solidFill>
              </a:rPr>
              <a:t>▶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93392" y="1097280"/>
            <a:ext cx="1627632" cy="2377440"/>
          </a:xfrm>
          <a:prstGeom prst="rect">
            <a:avLst/>
          </a:prstGeom>
          <a:solidFill>
            <a:srgbClr val="0F9D8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2487168" y="120700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2487168" y="12070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9D8A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048256" y="1965960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實驗規劃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066544" y="2377440"/>
            <a:ext cx="148132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GPU 環境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TG 監控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統計驗證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30168" y="2057400"/>
            <a:ext cx="128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A"/>
                </a:solidFill>
              </a:rPr>
              <a:t>▶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758184" y="1097280"/>
            <a:ext cx="1627632" cy="2377440"/>
          </a:xfrm>
          <a:prstGeom prst="rect">
            <a:avLst/>
          </a:prstGeom>
          <a:solidFill>
            <a:srgbClr val="E6A820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4251960" y="120700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4251960" y="12070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6A820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813048" y="1965960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論文撰寫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831336" y="2377440"/>
            <a:ext cx="148132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各章策略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SVG 圖表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BibTeX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94960" y="2057400"/>
            <a:ext cx="128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A"/>
                </a:solidFill>
              </a:rPr>
              <a:t>▶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22976" y="1097280"/>
            <a:ext cx="1627632" cy="2377440"/>
          </a:xfrm>
          <a:prstGeom prst="rect">
            <a:avLst/>
          </a:prstGeom>
          <a:solidFill>
            <a:srgbClr val="0A7A6B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6016752" y="120700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6016752" y="12070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A7A6B"/>
                </a:solidFill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577840" y="1965960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品質審查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96128" y="2377440"/>
            <a:ext cx="148132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七維度評分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平行審查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引用驗證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59752" y="2057400"/>
            <a:ext cx="128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A"/>
                </a:solidFill>
              </a:rPr>
              <a:t>▶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287768" y="1097280"/>
            <a:ext cx="1627632" cy="2377440"/>
          </a:xfrm>
          <a:prstGeom prst="rect">
            <a:avLst/>
          </a:prstGeom>
          <a:solidFill>
            <a:srgbClr val="0B3C5D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7781544" y="120700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7781544" y="12070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3C5D"/>
                </a:solidFill>
              </a:rPr>
              <a:t>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342632" y="1965960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投稿策略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360920" y="2377440"/>
            <a:ext cx="148132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期刊匹配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Cover Letter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投稿打包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4320" y="384048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5" name="Text 33"/>
          <p:cNvSpPr/>
          <p:nvPr/>
        </p:nvSpPr>
        <p:spPr>
          <a:xfrm>
            <a:off x="384048" y="384048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目標：走完 Phase 4-12，掌握從架構設計到投稿送出的完整 AI 輔助流程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Session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論文架構設計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與實驗規劃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F9D8A"/>
                </a:solidFill>
              </a:rPr>
              <a:t>09:20-12:00 | IMRaD + QMD + GPU + 統計驗證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3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3.1 IMRaD 標準論文架構（25 min）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Introduction → Methods → Results → and Discussion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90% 以上 SCI/SCIE 期刊採用的標準架構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I (Introduction)：背景 → 問題 → 目的 → 貢獻聲明（漏斗式寫法）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6517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M (Methods)：問題定義 → 系統架構 → 演算法 → 物理約束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R (Results)：實驗設置 → 主結果 → Ablation → 統計驗證 → 錯誤分析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5661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aD (Discussion)：意義分析 → 邊界條件 → 限制坦承 → 未來展望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0233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三個「必寫」附件：Abstract + Keywords + Highlights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Introduction：漏斗式寫法四步驟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685800" y="868680"/>
            <a:ext cx="7772400" cy="822960"/>
          </a:xfrm>
          <a:prstGeom prst="roundRect">
            <a:avLst>
              <a:gd name="adj" fmla="val 6667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685800" y="868680"/>
            <a:ext cx="54864" cy="82296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9D8A"/>
                </a:solidFill>
              </a:rPr>
              <a:t>Layer 1：大背景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97480" y="868680"/>
            <a:ext cx="5577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全球/產業趨勢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「能源效率已成為...」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63040" y="1783080"/>
            <a:ext cx="6217920" cy="822960"/>
          </a:xfrm>
          <a:prstGeom prst="roundRect">
            <a:avLst>
              <a:gd name="adj" fmla="val 6667"/>
            </a:avLst>
          </a:prstGeom>
          <a:solidFill>
            <a:srgbClr val="E8EDF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1463040" y="1783080"/>
            <a:ext cx="54864" cy="82296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1600200" y="17830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C5D"/>
                </a:solidFill>
              </a:rPr>
              <a:t>Layer 2：具體問題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178308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現有方法的不足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「然而，傳統 NILM...」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86000" y="2697480"/>
            <a:ext cx="4572000" cy="822960"/>
          </a:xfrm>
          <a:prstGeom prst="roundRect">
            <a:avLst>
              <a:gd name="adj" fmla="val 6667"/>
            </a:avLst>
          </a:prstGeom>
          <a:solidFill>
            <a:srgbClr val="E8F8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2286000" y="2697480"/>
            <a:ext cx="54864" cy="822960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2423160" y="26974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AE60"/>
                </a:solidFill>
              </a:rPr>
              <a:t>Layer 3：本研究方法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297680" y="269748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你的解決方案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「本研究提出 HTF-CNN...」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0" y="3611880"/>
            <a:ext cx="3657600" cy="822960"/>
          </a:xfrm>
          <a:prstGeom prst="roundRect">
            <a:avLst>
              <a:gd name="adj" fmla="val 6667"/>
            </a:avLst>
          </a:prstGeom>
          <a:solidFill>
            <a:srgbClr val="FFE0A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2743200" y="3611880"/>
            <a:ext cx="54864" cy="822960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2880360" y="361188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A820"/>
                </a:solidFill>
              </a:rPr>
              <a:t>Layer 4：貢獻聲明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89120" y="36118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2-3 點具體貢獻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</a:rPr>
              <a:t>(1) 首次將... (2) 提出...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Methods + Results 撰寫策略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2743200" cy="3840480"/>
          </a:xfrm>
          <a:prstGeom prst="roundRect">
            <a:avLst>
              <a:gd name="adj" fmla="val 2667"/>
            </a:avLst>
          </a:prstGeom>
          <a:solidFill>
            <a:srgbClr val="E8F4F2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274320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M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4630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9D8A"/>
                </a:solidFill>
              </a:rPr>
              <a:t>Methods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874520"/>
            <a:ext cx="252374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問題定義（數學形式化）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系統架構（必配圖）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演算法流程（偽代碼）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物理約束 &amp; 假設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可重現細節：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  - 超參數表格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  - 硬體配置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  - 訓練/測試比例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822960"/>
            <a:ext cx="2743200" cy="3840480"/>
          </a:xfrm>
          <a:prstGeom prst="roundRect">
            <a:avLst>
              <a:gd name="adj" fmla="val 2667"/>
            </a:avLst>
          </a:prstGeom>
          <a:solidFill>
            <a:srgbClr val="E8EDF4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3200400" y="822960"/>
            <a:ext cx="2743200" cy="54864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320040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291840" y="14630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C5D"/>
                </a:solidFill>
              </a:rPr>
              <a:t>Results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10128" y="1874520"/>
            <a:ext cx="252374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實驗設置（數據集描述）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主結果表格（vs Baseline）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Ablation Study（驗證必要性）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統計顯著性（p-value）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錯誤案例分析（提高可信度）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計算成本比較（可選）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822960"/>
            <a:ext cx="2743200" cy="3840480"/>
          </a:xfrm>
          <a:prstGeom prst="roundRect">
            <a:avLst>
              <a:gd name="adj" fmla="val 2667"/>
            </a:avLst>
          </a:prstGeom>
          <a:solidFill>
            <a:srgbClr val="FFF7E6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6126480" y="822960"/>
            <a:ext cx="2743200" cy="54864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612648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D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17920" y="14630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6A820"/>
                </a:solidFill>
              </a:rPr>
              <a:t>Discussion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36208" y="1874520"/>
            <a:ext cx="252374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結果意義分析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為什麼你的方法有效？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邊界條件在哪裡？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限制性坦承（加分項）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未來工作（具體 2-3 點）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與現有方法的本質區別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論文圖表配置策略：Claim → Evidence 追溯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圖/表編號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類型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對應 Claim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數據來源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Fig. 1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系統架構圖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研究方法的整體設計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手繪/SVG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Fig. 2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數據預處理流程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時頻轉換方法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code/preprocess.py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Table 1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數據集統計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實驗規模與代表性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data/*.csv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Table 2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主結果比較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優於 Baseline 的證據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results/*.json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Fig. 3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混淆矩陣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分類效能的細節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results/*.json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Table 3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Ablation Study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各組件貢獻的證據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ablation/*.json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Fig. 4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錯誤案例分析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模型限制的誠實揭示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error_analysis/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429768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4"/>
          <p:cNvSpPr/>
          <p:nvPr/>
        </p:nvSpPr>
        <p:spPr>
          <a:xfrm>
            <a:off x="384048" y="429768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evidence-indexer skill：自動追溯 Claim → Table/Figure → Result File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2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D8A"/>
                </a:solidFill>
              </a:rPr>
              <a:t>Phase 5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MD → QMD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YAML 檔頭設定</a:t>
            </a:r>
            <a:endParaRPr lang="en-US" sz="3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3.2 從 Markdown 到 QMD（30 min）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Markdown + YAML 檔頭 = Quarto 論文 → PDF + TeX + DOCX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寫作門檻最低的學術排版方案：一份源碼，多種輸出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Step 1：用熟悉的 Markdown 寫內容（語法零學習成本）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6517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Step 2：加上 YAML 檔頭 → 定義期刊格式、作者、引用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Step 3：quarto render → 自動生成 PDF / TeX / DOCX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5661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支援數學公式（LaTeX 語法）、交叉引用、BibTeX 引用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0233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4 大期刊格式一鍵切換：Elsevier / IEEE / Springer / MDPI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YAML 檔頭完整範例（Elsevier/SETA 配置）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754880" cy="393192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384048" y="832104"/>
            <a:ext cx="4535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paper.qmd — YAML 檔頭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4535424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title: "Hybrid Time-Frequency CNN..."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Chung-Kuang Chen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affiliations: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NTUST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department: GIMT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abstract: |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This study proposes...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bibliography: references.bib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csl: elsevier-vancouver-author-date.csl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elsevier-pdf: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keep-tex: true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journal: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name: SETA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cite-style: authoryear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classoption: [preprint, review, 12pt]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212080" y="777240"/>
            <a:ext cx="36576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5212080" y="777240"/>
            <a:ext cx="64008" cy="18288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5349240" y="850392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關鍵欄位說明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49240" y="1197864"/>
            <a:ext cx="3456432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bibliography → 引用檔案路徑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csl → 引用格式樣式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format → 輸出格式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keep-tex → 保留 .tex 源碼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classoption → 期刊排版選項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212080" y="2788920"/>
            <a:ext cx="36576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5212080" y="2788920"/>
            <a:ext cx="64008" cy="19202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5349240" y="2862072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支援的期刊格式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49240" y="3209544"/>
            <a:ext cx="34564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Elsevier → elsevier-pdf (authoryear)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IEEE → ieee-pdf (journal)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Springer → springer-pdf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MDPI → mdpi-pdf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5 秒切換：改 format + csl 即可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四大期刊格式一鍵切換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13716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期刊體系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format 值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classoption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csl 檔案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特色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Elsevier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elsevier-pdf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authoryear, preprint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elsevier-vancouver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最多 SCI 期刊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IEEE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ieee-pdf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journal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ieee.csl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工程領域首選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Springer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springer-pdf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(預設)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springer-basic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Nature 系列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MDPI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mdpi-pdf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(預設)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mdpi.csl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OA 期刊首選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017520"/>
            <a:ext cx="8595360" cy="150876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Text 4"/>
          <p:cNvSpPr/>
          <p:nvPr/>
        </p:nvSpPr>
        <p:spPr>
          <a:xfrm>
            <a:off x="384048" y="3072384"/>
            <a:ext cx="8375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一行指令渲染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84048" y="3383280"/>
            <a:ext cx="8375904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PDF（同時產生 .tex）        # Word（給合作者修改）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quarto render paper.qmd       quarto render paper.qmd --to docx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保留 .tex（直接上傳 Overleaf）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quarto render paper.qmd --keep-tex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2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D8A"/>
                </a:solidFill>
              </a:rPr>
              <a:t>Phase 5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實驗設計 + IDE 工作流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+ 遠端 GPU</a:t>
            </a:r>
            <a:endParaRPr lang="en-US" sz="3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實驗設計六要素 + Skill 支援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1. 基線選擇 (Baseline)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baseline-min-set skill：根據貢獻類型推薦最小基線集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70916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2. 消融實驗 (Ablation)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1208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ablation-min-proof skill：設計最小消融方案證明組件必要性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27432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3. 數據分割 (Split)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split-leakage-audit skill：檢測時間/實體洩漏風險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70916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208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4. 統計驗證 (Statistics)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statistical-validation skill：Bootstrap + 效果量 + P0-P2 分級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4320" y="251460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274320" y="2514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2468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5. 可重現性 (Reproducibility)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278892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seed=42 + YAML 配置 + NumpyEncoder + metric-audit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251460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4709160" y="2514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12080" y="2468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6. 計算預算 (Compute)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12080" y="278892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GPU 使用率 &gt; 60% 驗證 + TG Bot 三層監控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IDE 工作流：VS Code 四大 Extension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2011680" cy="3840480"/>
          </a:xfrm>
          <a:prstGeom prst="roundRect">
            <a:avLst>
              <a:gd name="adj" fmla="val 3636"/>
            </a:avLst>
          </a:prstGeom>
          <a:solidFill>
            <a:srgbClr val="E8F4F2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201168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274320" y="10058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Py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463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9D8A"/>
                </a:solidFill>
              </a:rPr>
              <a:t>Python Extension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874520"/>
            <a:ext cx="179222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IntelliSense 智能補全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Jupyter Notebook 整合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Debug 斷點除錯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虛擬環境切換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468880" y="822960"/>
            <a:ext cx="2011680" cy="3840480"/>
          </a:xfrm>
          <a:prstGeom prst="roundRect">
            <a:avLst>
              <a:gd name="adj" fmla="val 3636"/>
            </a:avLst>
          </a:prstGeom>
          <a:solidFill>
            <a:srgbClr val="E8EDF4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2468880" y="822960"/>
            <a:ext cx="2011680" cy="54864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2468880" y="10058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Q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560320" y="1463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C5D"/>
                </a:solidFill>
              </a:rPr>
              <a:t>Quarto Extension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78608" y="1874520"/>
            <a:ext cx="179222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即時預覽論文 PDF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YAML 語法提示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Markdown 學術語法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交叉引用跳轉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2011680" cy="3840480"/>
          </a:xfrm>
          <a:prstGeom prst="roundRect">
            <a:avLst>
              <a:gd name="adj" fmla="val 3636"/>
            </a:avLst>
          </a:prstGeom>
          <a:solidFill>
            <a:srgbClr val="FFF7E6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4663440" y="822960"/>
            <a:ext cx="2011680" cy="54864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4663440" y="10058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SSH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754880" y="1463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6A820"/>
                </a:solidFill>
              </a:rPr>
              <a:t>Remote-SSH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73168" y="1874520"/>
            <a:ext cx="179222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連接遠端 GPU 伺服器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本地 VS Code 操作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檔案同步 + Terminal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無縫切換本地/遠端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0" y="822960"/>
            <a:ext cx="2011680" cy="3840480"/>
          </a:xfrm>
          <a:prstGeom prst="roundRect">
            <a:avLst>
              <a:gd name="adj" fmla="val 3636"/>
            </a:avLst>
          </a:prstGeom>
          <a:solidFill>
            <a:srgbClr val="D4F0EB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6858000" y="822960"/>
            <a:ext cx="2011680" cy="54864"/>
          </a:xfrm>
          <a:prstGeom prst="rect">
            <a:avLst/>
          </a:prstGeom>
          <a:solidFill>
            <a:srgbClr val="0A7A6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6858000" y="10058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CC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949440" y="1463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7A6B"/>
                </a:solidFill>
              </a:rPr>
              <a:t>Claude Code CLI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67728" y="1874520"/>
            <a:ext cx="179222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終端機 AI 研究助手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24 Skills 自動載入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程式碼生成 + 除錯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論文撰寫 + 審查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三層 GPU 執行環境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10972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環境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GPU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用途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費用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適合場景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本地 MacBook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無/MPS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開發 + 調試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免費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程式碼撰寫、小數據測試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Google Colab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T4 / A100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原型驗證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免費~$10/月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快速實驗、教學展示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遠端 3090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RTX 3090 24GB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完整實驗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電費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正式訓練、大規模實驗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017520"/>
            <a:ext cx="4114800" cy="182880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Text 4"/>
          <p:cNvSpPr/>
          <p:nvPr/>
        </p:nvSpPr>
        <p:spPr>
          <a:xfrm>
            <a:off x="384048" y="3072384"/>
            <a:ext cx="389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Colab 快速設定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84048" y="3383280"/>
            <a:ext cx="389534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google.colab import drive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drive.mount('/content/drive')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!pip install torch torchvision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!python train.py --epochs 100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0" y="3017520"/>
            <a:ext cx="4297680" cy="182880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Text 7"/>
          <p:cNvSpPr/>
          <p:nvPr/>
        </p:nvSpPr>
        <p:spPr>
          <a:xfrm>
            <a:off x="4681728" y="3072384"/>
            <a:ext cx="4078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遠端 3090 標準流程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681728" y="3383280"/>
            <a:ext cx="407822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ac-3090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conda activate gpu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PYTHONUNBUFFERED=1 \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nohup python -u train.py \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&gt; exp.log 2&gt;&amp;1 &amp;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nvidia-smi  # 1min 內檢查 GPU&gt;60%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遠端 GPU 實驗：必要步驟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94360" cy="59436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8412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</a:rPr>
              <a:t>環境初始化 + 啟動驗證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明確初始化 Conda：source ~/miniconda3/etc/profile.d/conda.sh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029968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0299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啟用正確環境：conda activate gpu（不要用 base）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2505456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2505456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無緩衝輸出：PYTHONUNBUFFERED=1 python -u（即時看日誌）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298094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298094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持久化執行：nohup ... &amp; 或 tmux（SSH 斷線不中斷）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3456432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4564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1 分鐘內驗證：nvidia-smi 確認 GPU 使用率 &gt; 60%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3931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若 GPU &lt; 30% → 立即停止，檢查 model.to(device)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82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D8A"/>
                </a:solidFill>
              </a:rPr>
              <a:t>Phase 6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TG Bot 實驗監控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手機掌控 GPU 狀態</a:t>
            </a:r>
            <a:endParaRPr lang="en-US" sz="3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3.4 Telegram Bot 三層實驗監控（20 min）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實驗投入 GPU → 手機即時掌控 → 異常自動通知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讓你安心離開電腦，實驗狀態盡在掌握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Level 1（即時）：啟動 1 分鐘檢查 GPU、5 分鐘檢查日誌輸出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6517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Level 2（定期）：每 15 分鐘確認進程存在 + GPU + 日誌更新時間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Level 3（異常通知）：進程消失 / 日誌 10 分鐘未更新 / OOM 錯誤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5661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TG Bot 指令：/check（GPU）、/all（完整報告）、/log（日誌）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0233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自動通知範例：OOM → 手機收到通知 + 建議減少 batch_size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274320" y="109728"/>
            <a:ext cx="1280160" cy="438912"/>
          </a:xfrm>
          <a:prstGeom prst="roundRect">
            <a:avLst>
              <a:gd name="adj" fmla="val 12500"/>
            </a:avLst>
          </a:prstGeom>
          <a:solidFill>
            <a:srgbClr val="FFC857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3C5D"/>
                </a:solidFill>
              </a:rPr>
              <a:t>範例展示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0"/>
            <a:ext cx="7132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TG Bot 異常通知實例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8595360" cy="777240"/>
          </a:xfrm>
          <a:prstGeom prst="roundRect">
            <a:avLst>
              <a:gd name="adj" fmla="val 7059"/>
            </a:avLst>
          </a:prstGeom>
          <a:solidFill>
            <a:srgbClr val="FEF2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274320" y="777240"/>
            <a:ext cx="64008" cy="777240"/>
          </a:xfrm>
          <a:prstGeom prst="rect">
            <a:avLst/>
          </a:prstGeom>
          <a:solidFill>
            <a:srgbClr val="E07A3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457200" y="8046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7A3A"/>
                </a:solidFill>
              </a:rPr>
              <a:t>情境：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804672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RTX 3090 上訓練 HTF-CNN 模型，batch_size=256，第 47 epoch 觸發 OOM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1691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回覆：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8595360" cy="2743200"/>
          </a:xfrm>
          <a:prstGeom prst="roundRect">
            <a:avLst>
              <a:gd name="adj" fmla="val 20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57200" y="210312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[TG Bot 自動通知]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!! GPU 異常警報 !!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主機: ac-3090 | GPU: RTX 3090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狀態: CUDA Out of Memory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時間: 2026-03-06 14:23:07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詳情: RuntimeError: CUDA OOM at epoch 47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已用顯存: 23.8GB / 24GB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建議處理方式: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1. 減少 batch_size (256 -&gt; 128)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2. 啟用 gradient checkpointing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3. 使用 mixed precision (fp16)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82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D8A"/>
                </a:solidFill>
              </a:rPr>
              <a:t>Phase 7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Skill 驅動的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自動化統計驗證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3.5 自動化統計驗證流程（25 min）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28600" y="1097280"/>
            <a:ext cx="2068830" cy="2377440"/>
          </a:xfrm>
          <a:prstGeom prst="rect">
            <a:avLst/>
          </a:prstGeom>
          <a:solidFill>
            <a:srgbClr val="0B3C5D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942975" y="120700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942975" y="12070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3C5D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83464" y="1965960"/>
            <a:ext cx="195910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指令觸發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1752" y="2377440"/>
            <a:ext cx="192252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/analyze-experiment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results.json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06574" y="2057400"/>
            <a:ext cx="128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A"/>
                </a:solidFill>
              </a:rPr>
              <a:t>▶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34590" y="1097280"/>
            <a:ext cx="2068830" cy="2377440"/>
          </a:xfrm>
          <a:prstGeom prst="rect">
            <a:avLst/>
          </a:prstGeom>
          <a:solidFill>
            <a:srgbClr val="0F9D8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3148965" y="120700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3148965" y="12070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9D8A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489454" y="1965960"/>
            <a:ext cx="195910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數據驗證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07742" y="2377440"/>
            <a:ext cx="192252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data-validator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品質 + 過擬合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12564" y="2057400"/>
            <a:ext cx="128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A"/>
                </a:solidFill>
              </a:rPr>
              <a:t>▶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40580" y="1097280"/>
            <a:ext cx="2068830" cy="2377440"/>
          </a:xfrm>
          <a:prstGeom prst="rect">
            <a:avLst/>
          </a:prstGeom>
          <a:solidFill>
            <a:srgbClr val="E6A820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5354955" y="120700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5354955" y="12070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6A820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695444" y="1965960"/>
            <a:ext cx="195910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統計分析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13732" y="2377440"/>
            <a:ext cx="192252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stats-validator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Bootstrap + 效果量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18554" y="2057400"/>
            <a:ext cx="128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A"/>
                </a:solidFill>
              </a:rPr>
              <a:t>▶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46570" y="1097280"/>
            <a:ext cx="2068830" cy="2377440"/>
          </a:xfrm>
          <a:prstGeom prst="rect">
            <a:avLst/>
          </a:prstGeom>
          <a:solidFill>
            <a:srgbClr val="0A7A6B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7560945" y="120700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7560945" y="12070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A7A6B"/>
                </a:solidFill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901434" y="1965960"/>
            <a:ext cx="195910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分級報告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19722" y="2377440"/>
            <a:ext cx="192252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P0-P3 分級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論文用文本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384048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384048" y="384048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一條指令完成：數據品質 → 統計驗證 → P0-P3 分級 → 可直接貼入論文的文字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數據一致性三角驗證：Text ↔ Table ↔ Figure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論文中的每個數字必須三方一致，不一致 = P0 致命問題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figure-table-checker + evidence-indexer 自動掃描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Text：「本方法 F1 達到 0.848...」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578608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57860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Table 2：F1 = 0.8488（保留四位小數）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962656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2962656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Figure 3：混淆矩陣計算得 F1 = 0.848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346704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346704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不一致案例：F1=0.820（文中）vs 0.8488（表中）→ P0 問題！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73075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730752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Claim → Evidence 追溯鏈：evidence-indexer skill 自動建立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11480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11480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修正流程：results/*.json → EXPERIMENT_RESULTS.md → paper.qmd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統計方法選擇指南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場景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推薦方法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何時使用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 級別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兩組比較 (正態)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配對 t-test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樣本 &gt; 30、常態分佈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P1（未做則缺失）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兩組比較 (非正態)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Mann-Whitney U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小樣本、非常態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P1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多組比較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Friedman + Nemenyi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多模型排名比較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P1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信賴區間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Bootstrap (10K)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任何分佈皆可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P0（強烈建議）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效果量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Cohen's d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量化差異實際大小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P2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統計功效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Power Analysis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樣本量是否足夠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P2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4206240"/>
            <a:ext cx="8595360" cy="50292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/>
          <p:cNvSpPr/>
          <p:nvPr/>
        </p:nvSpPr>
        <p:spPr>
          <a:xfrm>
            <a:off x="274320" y="4206240"/>
            <a:ext cx="64008" cy="5029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</a:rPr>
              <a:t>常見陷阱：只報 p &lt; 0.05 不報效果量 → 審稿人質疑「統計顯著但實際差異微小」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3.6 可重現性設計五原則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固定隨機種子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seed=42 + torch.manual_seed + np.random.seed + cudnn.deterministic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70916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參數配置文件化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1208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YAML/JSON 儲存所有超參數，不在程式碼中寫死（magic number）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27432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結果 JSON 可序列化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使用 NumpyEncoder 處理 numpy/tensor 類型，確保可存取可重讀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70916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208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指標定義一致性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metric-audit skill：確認 macro/micro/weighted F1 定義統一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4320" y="251460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274320" y="2514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2468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數字流管道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278892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results/*.json → EXPERIMENT_RESULTS.md → paper.qmd（唯一真相來源）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274320" y="274320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274320" y="2743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動手練習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</a:rPr>
              <a:t>思考練習 1：論文架構設計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28800" y="69494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15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15568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320040" y="11155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097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為你的研究畫出 IMRaD 各章節大綱（標題 + 2-3 句摘要）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645920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320040" y="16459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162763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列出預計的圖表清單（編號 + 類型 + 對應 Claim）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0040" y="2176272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20040" y="217627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2157984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建立 QMD 檔案，填入 YAML 檔頭（選擇你的目標期刊格式）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0040" y="2706624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320040" y="270662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2688336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定義實驗設計六要素：Baseline / Ablation / Split / 統計方法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" y="3236976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320040" y="32369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3218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（進階）設定 quarto render 並產出第一份 PDF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Session 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QMD + BibTeX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論文撰寫系統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F9D8A"/>
                </a:solidFill>
              </a:rPr>
              <a:t>13:00-14:45 | 寫作策略 + SVG + Claude Code 深度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3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4.1 各章節撰寫策略（30 min）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IMRaD 對應撰寫順序：Methods → Results → Introduction → Discussion → Abstract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不要從 Introduction 開始寫！先寫你最確定的部分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Methods：最先寫 — 你最了解自己做了什麼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6517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Results：第二寫 — 用數據說話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Introduction：第三寫 — 知道結果後才能精準定位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5661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Discussion：第四寫 — 回應 Introduction 的問題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0233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Abstract：最後寫 — 濃縮全文精華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各章節 AI 輔助策略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2743200" cy="3840480"/>
          </a:xfrm>
          <a:prstGeom prst="roundRect">
            <a:avLst>
              <a:gd name="adj" fmla="val 2667"/>
            </a:avLst>
          </a:prstGeom>
          <a:solidFill>
            <a:srgbClr val="E8F4F2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274320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I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4630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9D8A"/>
                </a:solidFill>
              </a:rPr>
              <a:t>Introduction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874520"/>
            <a:ext cx="252374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倒金字塔 + 貢獻聲明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AI 協助：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- 產業趨勢數據收集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- Research Gap 論述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- 貢獻聲明精煉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Skill: innovation-positioning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822960"/>
            <a:ext cx="2743200" cy="3840480"/>
          </a:xfrm>
          <a:prstGeom prst="roundRect">
            <a:avLst>
              <a:gd name="adj" fmla="val 2667"/>
            </a:avLst>
          </a:prstGeom>
          <a:solidFill>
            <a:srgbClr val="E8EDF4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3200400" y="822960"/>
            <a:ext cx="2743200" cy="54864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320040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M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291840" y="14630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C5D"/>
                </a:solidFill>
              </a:rPr>
              <a:t>Methods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10128" y="1874520"/>
            <a:ext cx="252374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圖表先行、AI 生文字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AI 協助：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- 流程圖描述文字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- 演算法偽代碼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- 數學公式排版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Skill: academic-writing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822960"/>
            <a:ext cx="2743200" cy="3840480"/>
          </a:xfrm>
          <a:prstGeom prst="roundRect">
            <a:avLst>
              <a:gd name="adj" fmla="val 2667"/>
            </a:avLst>
          </a:prstGeom>
          <a:solidFill>
            <a:srgbClr val="FFF7E6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6126480" y="822960"/>
            <a:ext cx="2743200" cy="54864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612648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R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17920" y="14630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6A820"/>
                </a:solidFill>
              </a:rPr>
              <a:t>Results+Disc.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36208" y="1874520"/>
            <a:ext cx="252374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數據表 → AI 統計分析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AI 協助：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- 統計結果解讀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- 圖表描述文字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- 限制性坦承措辭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Skill: statistical-validation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轉投期刊策略：5 步快速調整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94360" cy="59436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8412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</a:rPr>
              <a:t>分析目標期刊熱點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抓取目標期刊近 100 篇標題 → AI topic clustering → 識別當前熱點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029968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0299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分析主編偏好：Google Scholar profile + 最近 Editorial 內容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2505456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2505456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調整 Title：對齊期刊熱門關鍵詞（避免太窄或太廣）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298094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298094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調整 Abstract + Intro 第一段：引用該期刊近期文章（表示你了解它）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3456432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4564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修改 YAML format + CSL → quarto render → 新格式 PDF（5 秒完成）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3931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journal-fit skill：自動評估你的論文與目標期刊的適配度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轉投案例：Energy &amp; Buildings → SETA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3840480"/>
          </a:xfrm>
          <a:prstGeom prst="roundRect">
            <a:avLst>
              <a:gd name="adj" fmla="val 1905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</a:rPr>
              <a:t>Before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Title: CNN-based NILM for Industrial...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67335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Format: Elsevier (Energy &amp; Buildings)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02082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Abstract: 強調 building energy...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68296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Keywords: building, energy efficiency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715768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引用: EB 相關文獻為主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06324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CSL: elsevier-with-titles.csl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41071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75818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Scope 不完全匹配 → 可能 Desk Reject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822960"/>
            <a:ext cx="4114800" cy="3840480"/>
          </a:xfrm>
          <a:prstGeom prst="roundRect">
            <a:avLst>
              <a:gd name="adj" fmla="val 1905"/>
            </a:avLst>
          </a:prstGeom>
          <a:solidFill>
            <a:srgbClr val="E8F8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4937760" y="914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AE60"/>
                </a:solidFill>
              </a:rPr>
              <a:t>After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0" y="132588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Title: Hybrid Time-Frequency CNN for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167335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    Industrial NILM with LLM-enhanced...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202082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Format: Elsevier (SETA)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0" y="2368296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Abstract: 強調 sustainable energy...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2715768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Keywords: sustainable, technology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306324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引用: 加入 SETA 近期文章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341071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CSL: elsevier-vancouver.csl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375818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5 秒切換 → quarto render → 新 PDF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82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D8A"/>
                </a:solidFill>
              </a:rPr>
              <a:t>Phase 9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圖表呈現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SVG 向量圖 + 出版級規範</a:t>
            </a:r>
            <a:endParaRPr lang="en-US" sz="3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為什麼需要 SVG 向量圖？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3840480"/>
          </a:xfrm>
          <a:prstGeom prst="roundRect">
            <a:avLst>
              <a:gd name="adj" fmla="val 1905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9D8A"/>
                </a:solidFill>
              </a:rPr>
              <a:t>PNG/JPG 點陣圖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放大後模糊（像素化）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75564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300 DPI 以上檔案很大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13969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無法後續編輯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52374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螢幕截圖品質不穩定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9077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某些期刊直接退回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822960"/>
            <a:ext cx="4114800" cy="3840480"/>
          </a:xfrm>
          <a:prstGeom prst="roundRect">
            <a:avLst>
              <a:gd name="adj" fmla="val 1905"/>
            </a:avLst>
          </a:prstGeom>
          <a:solidFill>
            <a:srgbClr val="E8F8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4937760" y="9144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AE60"/>
                </a:solidFill>
              </a:rPr>
              <a:t>SVG/PDF 向量圖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137160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無限放大不失真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175564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檔案小、品質高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0" y="213969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可用 Inkscape 後編輯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252374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期刊要求 300+ DPI 自動滿足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29077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專業學術出版標準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Python 三格式圖表輸出 + QMD 引用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389120" cy="2139696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384048" y="832104"/>
            <a:ext cx="4169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Python 儲存三格式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416966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matplotlib.pyplot as plt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fig, ax = plt.subplots(figsize=(8, 5))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ax.plot(x, y)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ax.set_xlabel('Epoch')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ax.set_ylabel('F1 Score')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三格式輸出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fig.savefig('fig.svg', format='svg')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fig.savefig('fig.pdf', format='pdf')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fig.savefig('fig.png', dpi=300)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777240"/>
            <a:ext cx="4023360" cy="96012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4956048" y="832104"/>
            <a:ext cx="3803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QMD 引用圖片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56048" y="1143000"/>
            <a:ext cx="3803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![F1 趨勢](fig.pdf){#fig-f1 width="100%"}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如 @fig-f1 所示，F1 在 epoch 50 後趨穩。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0" y="1920240"/>
            <a:ext cx="40233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4846320" y="1920240"/>
            <a:ext cx="64008" cy="868680"/>
          </a:xfrm>
          <a:prstGeom prst="rect">
            <a:avLst/>
          </a:prstGeom>
          <a:solidFill>
            <a:srgbClr val="0A7A6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4983480" y="1993392"/>
            <a:ext cx="3822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A7A6B"/>
                </a:solidFill>
              </a:rPr>
              <a:t>Inkscape 後處理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83480" y="2340864"/>
            <a:ext cx="382219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SVG → PDF/EPS（某些期刊要求）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inkscape fig.svg --export-pdf=fig.pdf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2971800"/>
            <a:ext cx="8595360" cy="1554480"/>
          </a:xfrm>
          <a:prstGeom prst="rect">
            <a:avLst/>
          </a:prstGeom>
          <a:solidFill>
            <a:srgbClr val="1A1A1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384048" y="3026664"/>
            <a:ext cx="8375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C857"/>
                </a:solidFill>
              </a:rPr>
              <a:t>QMD → TeX + PDF 一行完成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4048" y="3337560"/>
            <a:ext cx="83759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同時得到 PDF + TeX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quarto render paper.qmd             # → paper.pdf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quarto render paper.qmd --keep-tex  # → paper.pdf + paper.tex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9D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.tex 可直接上傳 Overleaf 或期刊系統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4.3 BibTeX 進階管理（10 min）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引用格式 + CSL 切換 + 雙重防呆 = 零引用錯誤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黃金規則：絕不添加 references.bib 中不存在的引用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基本語法：@citekey（如 @Chen2024）或 [@a; @b]（多引用）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6517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CSL 樣式一鍵切換：APA / IEEE / Elsevier / Springer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bib-manager skill：檢測重複 key、缺失欄位、格式錯誤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5661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citation-checker agent：逐筆驗證 DOI 有效性 + 作者正確性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0233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雙重防呆：AI 絕不自行添加引用 + 發現問題只指出不修正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274320" y="274320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274320" y="2743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動手練習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</a:rPr>
              <a:t>實作練習 2：QMD 論文撰寫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28800" y="69494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</a:rPr>
              <a:t>15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15568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320040" y="11155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097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建立 QMD 論文骨架（含完整 YAML 檔頭 + 目標期刊格式）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645920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320040" y="16459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162763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設定 bibliography: references.bib + csl 樣式檔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0040" y="2176272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20040" y="217627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2157984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撰寫 Abstract 初稿（200 字以內，結構：背景-方法-結果-結論）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0040" y="2706624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320040" y="270662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2688336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加入 3 個引用（@citekey 格式），quarto render 驗證格式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" y="3236976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320040" y="32369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3218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（進階）用 Python 產出一張 SVG 圖並嵌入 QMD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0040" y="3767328"/>
            <a:ext cx="347472" cy="347472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320040" y="37673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3749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（進階）嘗試切換期刊格式，觀察 PDF 差異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82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D8A"/>
                </a:solidFill>
              </a:rPr>
              <a:t>Phase 9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圖表呈現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出版級學術圖表規範</a:t>
            </a:r>
            <a:endParaRPr lang="en-US" sz="3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簡報圖表 vs 學術圖表 — 完全不同的世界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3840480"/>
          </a:xfrm>
          <a:prstGeom prst="roundRect">
            <a:avLst>
              <a:gd name="adj" fmla="val 1905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9D8A"/>
                </a:solidFill>
              </a:rPr>
              <a:t>簡報圖表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PNG / JPG 點陣圖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75564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72-150 DPI，放大模糊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13969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配色好看就好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52374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字體大小隨意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9077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標注可省略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Excel 截圖常見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822960"/>
            <a:ext cx="4114800" cy="3840480"/>
          </a:xfrm>
          <a:prstGeom prst="roundRect">
            <a:avLst>
              <a:gd name="adj" fmla="val 1905"/>
            </a:avLst>
          </a:prstGeom>
          <a:solidFill>
            <a:srgbClr val="E8F8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4937760" y="9144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AE60"/>
                </a:solidFill>
              </a:rPr>
              <a:t>學術圖表（期刊要求）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0" y="137160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SVG / EPS / PDF 向量格式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0" y="175564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300-600 DPI 出版級解析度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213969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色彩語義一致（同變項同色）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252374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最小 8pt，軸標籤清晰可讀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29077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軸標籤、單位、誤差線、顯著性標記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0" y="32918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• Reviewer 看圖就知道你的水準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頂級期刊圖表解析：Nature Medicine (2026)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274320" y="77724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5A6B7A"/>
                </a:solidFill>
              </a:rPr>
              <a:t>Antibiotic use and gut microbiome composition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5A6B7A"/>
                </a:solidFill>
              </a:rPr>
              <a:t>links from individual-level prescription data of 14,979 individuals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16002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這篇論文的圖表是頂級期刊的標準範例：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</a:rPr>
              <a:t>• Fig 1 — 多面板折線圖 + 熱力圖 + Forest Plot（三種圖組合）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</a:rPr>
              <a:t>• Fig 2 — 函數回歸 + 信賴帶（時序趨勢 6×3 多面板）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</a:rPr>
              <a:t>• Fig 3 — 大型熱力圖（1,340 species × 11 抗生素）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</a:rPr>
              <a:t>• Fig 4 — 複合熱力圖（抗生素 + 代謝標記雙色系）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</a:rPr>
              <a:t>• Table 1-2 — 標準三線表（人口統計 + 抗生素用量）</a:t>
            </a:r>
            <a:endParaRPr lang="en-US" sz="12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Fig 1：多面板圖表組合（折線 + 熱力 + Forest）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5" name="Image 0" descr="assets/nature_medicine/fig1_crop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731520"/>
            <a:ext cx="5029200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94960" y="7772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a: 折線圖 — 三種 diversity metric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394960" y="112471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   色彩區分時間段，誤差棒清晰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394960" y="1472184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b: 熱力圖 — 星號標注顯著性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394960" y="181965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   FDR &lt; 5% 才標，避免過度宣稱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394960" y="216712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c: Forest Plot — 迴歸係數 + 95% CI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394960" y="25146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   填充 = 顯著，空心 = 不顯著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394960" y="28620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394960" y="3209544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3C5D"/>
                </a:solidFill>
              </a:rPr>
              <a:t>設計要點：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394960" y="355701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色彩語義一致（全圖同色系）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394960" y="39044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子圖用 a, b, c 粗體小寫標記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394960" y="42519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圖說獨立，不看正文也能理解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Fig 2：函數回歸 + 信賴帶（時序多面板）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5" name="Image 0" descr="assets/nature_medicine/fig2_crop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731520"/>
            <a:ext cx="5029200" cy="3474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94960" y="7772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6 種抗生素 × 3 種 diversity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394960" y="116128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= 18 面板，統一軸範圍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394960" y="154533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394960" y="192938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3C5D"/>
                </a:solidFill>
              </a:rPr>
              <a:t>設計要點：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394960" y="231343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信賴帶（shaded area）= 95% CI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394960" y="26974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實線 = 回歸係數，色彩區分藥物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394960" y="308152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X 軸統一（1-8 年），方便比較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394960" y="346557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每列同一個 metric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394960" y="384962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每欄同一個藥物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Fig 3：大型熱力圖（1,340 species）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5" name="Image 0" descr="assets/nature_medicine/fig3_crop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731520"/>
            <a:ext cx="5029200" cy="3657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94960" y="7772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1,340 個物種 × 11 種抗生素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394960" y="116128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× 3 個時間段 = 超大規模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394960" y="154533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394960" y="192938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3C5D"/>
                </a:solidFill>
              </a:rPr>
              <a:t>設計要點：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394960" y="231343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藍色 = 負相關，紅色 = 正相關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394960" y="26974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只顯示顯著（FDR &lt; 5%）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394960" y="308152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Y 軸按 Phylum 分群排列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394960" y="346557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底部附比例尺和圖例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394960" y="384962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用量長條圖附在下方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Fig 4：複合熱力圖（抗生素 × 代謝標記）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5" name="Image 0" descr="assets/nature_medicine/fig4_crop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731520"/>
            <a:ext cx="5029200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94960" y="7772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101 species × 3 抗生素 + 代謝標記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394960" y="116128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394960" y="154533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3C5D"/>
                </a:solidFill>
              </a:rPr>
              <a:t>設計要點：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394960" y="192938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雙色系：抗生素用 teal/pink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394960" y="231343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  代謝標記用 purple/pink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394960" y="26974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階層聚類排列物種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394960" y="308152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星號分級（* FDR&lt;5%, ** FDR&lt;1%）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394960" y="346557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整合多資料源在同一張圖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394960" y="384962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這種圖讓 reviewer 印象深刻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Table 1：標準三線表（學術表格規範）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5" name="Image 0" descr="assets/nature_medicine/table1_crop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731520"/>
            <a:ext cx="5029200" cy="320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94960" y="7772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3C5D"/>
                </a:solidFill>
              </a:rPr>
              <a:t>學術三線表規範：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394960" y="116128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只有三條橫線（頂/表頭下/底）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394960" y="154533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無縱線、無網格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394960" y="192938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數值對齊（小數點/百分比）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394960" y="231343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連續變項：median [IQR]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394960" y="26974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類別變項：n (%)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394960" y="308152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表注用上標字母標記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394960" y="346557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• 縮寫在表注統一解釋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學術圖表 6 大規範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1. 向量格式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SVG 原始 → PDF/EPS 投稿。PNG 只用於預覽，絕不投稿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70916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2. 色彩語義一致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1208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同一個變項在所有圖中用同一種顏色，建立「色彩字典」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27432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3. 軸標籤完整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X/Y 軸名稱 + 單位 + 刻度。缺一項 reviewer 就會質疑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70916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208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4. 誤差表示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Error bar（SD/SE/95%CI）+ 信賴帶。沒有誤差 = 不可信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4320" y="251460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274320" y="2514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2468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5. 顯著性標注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278892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星號（* p&lt;0.05, ** p&lt;0.01）或直接標 p 值。位置對齊比較組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251460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4709160" y="2514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12080" y="2468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6. 多面板編排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12080" y="278892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a, b, c 子圖標記 + 統一尺寸 + 共享圖例。Nature 標準是粗體小寫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常見學術圖表類型 × 適用場景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圖表類型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適用場景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範例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折線圖 (Line)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時序趨勢、訓練曲線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Loss/Accuracy vs Epoch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長條圖 (Bar)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類別比較、消融實驗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Baseline vs Proposed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Forest Plot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迴歸係數 + CI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多變項效果量比較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熱力圖 (Heatmap)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相關性、大規模比較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Species × Antibiotic 關聯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箱型圖 (Box)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分布比較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各組的分數分布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散點圖 (Scatter)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兩變項關係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預測值 vs 實際值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架構圖 (Diagram)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方法論流程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研究架構 / 模型結構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圖表產出三步驟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94360" cy="59436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8412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</a:rPr>
              <a:t>Python 產出三格式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savefig(svg) 原始向量圖，可編輯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029968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0299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savefig(pdf) 投稿用，嵌入字體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2505456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2505456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savefig(png, dpi=300) 預覽用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98094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298094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三格式同時輸出，一次滿足所有需求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圖表產出三步驟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94360" cy="59436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8412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</a:rPr>
              <a:t>Inkscape 後處理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SVG 轉 PDF/EPS（某些期刊要求特定格式）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029968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0299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微調標籤位置和字體大小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2505456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2505456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合併多面板圖（a, b, c 子圖）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圖表產出三步驟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94360" cy="59436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8412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</a:rPr>
              <a:t>QMD 嵌入 + 交叉引用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嵌入圖片並設定 figure ID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029968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0299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文中用交叉引用，自動編號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2505456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2505456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quarto render 一鍵產出 PDF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98094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298094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切換期刊格式時圖表位置自動調整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投稿前圖表自我檢查清單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Reviewer 看圖的前 10 秒就決定你的論文水準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每張圖都要過這 8 項檢查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□ 格式正確？（SVG/PDF/EPS，不是 PNG 截圖）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578608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57860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□ 解析度足夠？（300 DPI 以上，放大不模糊）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962656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2962656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□ 軸標籤完整？（名稱 + 單位 + 合理刻度範圍）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346704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346704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□ 色彩一致？（同變項同色，跨圖不變）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73075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730752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□ 有誤差表示？（Error bar 或 CI band）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11480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11480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□ 顯著性標注？（* / ** / *** 或 p 值）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4498848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449884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□ 子圖標記？（a, b, c 粗體小寫，左上角）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" y="4882896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4882896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□ 圖說完整？（看圖說就能理解，不需讀正文）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82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D8A"/>
                </a:solidFill>
              </a:rPr>
              <a:t>Deep Dive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Claude Code 深度體驗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+ Skill 自動化 Demo</a:t>
            </a:r>
            <a:endParaRPr lang="en-US" sz="3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14:15-14:45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Claude Code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自動化工作流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F9D8A"/>
                </a:solidFill>
              </a:rPr>
              <a:t>CLAUDE.md + 24 Skills + 8 Agents + 5 Commands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3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CLAUDE.md：AI 的工作手冊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一份 Markdown 檔案，定義 AI 在你專案中的所有行為規範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放在專案根目錄，Claude Code 啟動時自動讀取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引用處理原則：只使用 references.bib 中的引用，絕不推測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578608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57860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檔案操作原則：不刪除原始數據、不覆蓋既有檔案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962656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2962656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驗證原則：寫入後必須驗證、宣稱前先確認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346704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346704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目錄結構定義：01_literature / 02_research / 03_manuscripts ...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73075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730752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實驗執行規範：seed=42 / GPU 驗證 / 三層監控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11480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11480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相當於團隊的「工作守則」— AI 也需要 SOP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Skills 系統：24 個專業知識庫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1965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64008" cy="196596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11480" y="850392"/>
            <a:ext cx="3913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基礎 Skills（14 個）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197864"/>
            <a:ext cx="391363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paper-review-skill → 七維度評分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bib-manager → BibTeX 管理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literature-synthesis → 文獻綜述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journal-submission → 投稿流程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figure-table-checker → 圖表一致性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innovation-positioning → 創新定位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academic-writing → 學術寫作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statistical-validation → 統計驗證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0" y="777240"/>
            <a:ext cx="4297680" cy="1965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4572000" y="777240"/>
            <a:ext cx="64008" cy="196596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4709160" y="619654"/>
            <a:ext cx="4096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進階 Research Agent Skills（10 個）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09160" y="1031134"/>
            <a:ext cx="4096512" cy="16206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mvp-gatekeeper → MVP 門檻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journal-fit → 期刊適配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split-leakage-audit → 數據洩漏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evidence-indexer → 證據追溯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research-contract → 研究契約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ablation-min-proof → 消融證明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metric-audit → 指標審計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baseline-min-set → 基線最小集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submission-bundle → 投稿打包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rebuttal-matrix → 回覆矩陣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92608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84048" y="292608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觸發機制：用戶輸入 → 語義匹配 → 自動載入對應 Skill → 應用專業知識指導 AI 回覆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3474720"/>
            <a:ext cx="859536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274320" y="3474720"/>
            <a:ext cx="64008" cy="1234440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411480" y="3547872"/>
            <a:ext cx="8394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E6A820"/>
                </a:solidFill>
              </a:rPr>
              <a:t>8 個 AI 專家 Agent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3895344"/>
            <a:ext cx="839419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唯讀（安全）: citation-checker, paper-reviewer | 讀寫: paper-writer, submission-helper | 執行: data-validator, stats-validator | 協調: research-orchestrator, literature-researcher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 個一鍵工作流 Commands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18288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Command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功能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觸發的 Agents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產出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/review-paper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論文全面審查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citation-checker → data-validator → paper-reviewer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七維度評分 + P0-P3 清單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/analyze-experiment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實驗分析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data-validator → stats-validator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統計分析報告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/prepare-submission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投稿準備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paper-reviewer → submission-helper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Cover Letter + 檢查清單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/analyze-literature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文獻分析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literature-researcher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Gap 分析 + 綜述大綱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/respond-reviewers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審稿回覆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rebuttal-matrix → paper-writer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回覆信草稿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420624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4"/>
          <p:cNvSpPr/>
          <p:nvPr/>
        </p:nvSpPr>
        <p:spPr>
          <a:xfrm>
            <a:off x="384048" y="420624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每個 Command = 多個 Agent 串接執行 → 一條指令完成原本需要數小時的工作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274320" y="109728"/>
            <a:ext cx="1280160" cy="438912"/>
          </a:xfrm>
          <a:prstGeom prst="roundRect">
            <a:avLst>
              <a:gd name="adj" fmla="val 12500"/>
            </a:avLst>
          </a:prstGeom>
          <a:solidFill>
            <a:srgbClr val="FFC857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3C5D"/>
                </a:solidFill>
              </a:rPr>
              <a:t>範例展示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0"/>
            <a:ext cx="7132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Demo 1: /review-paper 論文審查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8595360" cy="777240"/>
          </a:xfrm>
          <a:prstGeom prst="roundRect">
            <a:avLst>
              <a:gd name="adj" fmla="val 7059"/>
            </a:avLst>
          </a:prstGeom>
          <a:solidFill>
            <a:srgbClr val="FEF2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274320" y="777240"/>
            <a:ext cx="64008" cy="777240"/>
          </a:xfrm>
          <a:prstGeom prst="rect">
            <a:avLst/>
          </a:prstGeom>
          <a:solidFill>
            <a:srgbClr val="E07A3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457200" y="8046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7A3A"/>
                </a:solidFill>
              </a:rPr>
              <a:t>情境：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804672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對 SETA 論文執行完整七維度審查，自動串接 3 個 Agent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1691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回覆：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8595360" cy="2743200"/>
          </a:xfrm>
          <a:prstGeom prst="roundRect">
            <a:avLst>
              <a:gd name="adj" fmla="val 20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57200" y="210312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$ /review-paper paper.qmd "SETA"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[citation-checker] 掃描 47 筆引用...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2 筆 DOI 無效、1 筆作者名不匹配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[data-validator] 檢查數據一致性...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Table 2 F1=0.848 vs 文中 F1=0.82 → P0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[paper-reviewer] 七維度評分: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結構 8/10 | 方法 7/10 | 實驗 6/10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數據 5/10 | 寫作 8/10 | 引用 7/10 | 創新 7/10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P0 問題: 2 個 | P1: 3 個 | P2: 5 個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274320" y="109728"/>
            <a:ext cx="1280160" cy="438912"/>
          </a:xfrm>
          <a:prstGeom prst="roundRect">
            <a:avLst>
              <a:gd name="adj" fmla="val 12500"/>
            </a:avLst>
          </a:prstGeom>
          <a:solidFill>
            <a:srgbClr val="FFC857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3C5D"/>
                </a:solidFill>
              </a:rPr>
              <a:t>範例展示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0"/>
            <a:ext cx="7132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Demo 2: /prepare-submission 投稿準備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8595360" cy="777240"/>
          </a:xfrm>
          <a:prstGeom prst="roundRect">
            <a:avLst>
              <a:gd name="adj" fmla="val 7059"/>
            </a:avLst>
          </a:prstGeom>
          <a:solidFill>
            <a:srgbClr val="FEF2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274320" y="777240"/>
            <a:ext cx="64008" cy="777240"/>
          </a:xfrm>
          <a:prstGeom prst="rect">
            <a:avLst/>
          </a:prstGeom>
          <a:solidFill>
            <a:srgbClr val="E07A3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457200" y="8046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7A3A"/>
                </a:solidFill>
              </a:rPr>
              <a:t>情境：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804672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一鍵生成 Cover Letter + 投稿檢查清單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1691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回覆：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8595360" cy="2743200"/>
          </a:xfrm>
          <a:prstGeom prst="roundRect">
            <a:avLst>
              <a:gd name="adj" fmla="val 20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57200" y="210312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$ /prepare-submission "SETA"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[paper-reviewer] 最終審查通過（0 個 P0）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[submission-helper] 生成 Cover Letter: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Dear Editor,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We submit our manuscript entitled "Hybrid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Time-Frequency CNN..." for consideration in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Sustainable Energy Technologies and Assessments.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投稿檢查: 10/10 項完成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包含: PDF + TeX + Cover Letter + SVG figures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+ Highlights + Author Statement + Data Avail.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Session 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多維度分析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&amp; 品質保證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F9D8A"/>
                </a:solidFill>
              </a:rPr>
              <a:t>15:00-16:30 | 審查 + 平行 AI + 引用驗證 + 投稿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3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5.1 七維度論文分析系統（20 min）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結構 | 方法 | 實驗 | 數據 | 寫作 | 引用 | 創新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每個維度 1-10 分，搭配 P0-P3 問題分級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結構完整性：IMRaD 完整？章節比例合理？邏輯連貫？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578608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57860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方法論嚴謹性：數學嚴謹？物理約束？可重現？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962656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2962656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實驗設計：Baseline 足夠？Ablation 完整？統計有效？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346704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346704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數據可信度：Text ↔ Table ↔ Figure 三方一致？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73075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730752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寫作清晰度：學術語氣？段落邏輯？Grammar？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11480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11480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引用完整性：DOI 有效？作者正確？覆蓋近 3 年？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4498848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449884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創新貢獻：超越應用？有方法論貢獻？定位精準？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P0-P3 問題分級系統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8595360" cy="9144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64008" cy="9144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</a:rPr>
              <a:t>P0 致命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920240" y="7772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必須修正，否則 Desk Reject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0" y="77724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</a:rPr>
              <a:t>數據不一致、引用造假、結論無支撐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1783080"/>
            <a:ext cx="8595360" cy="914400"/>
          </a:xfrm>
          <a:prstGeom prst="roundRect">
            <a:avLst>
              <a:gd name="adj" fmla="val 6000"/>
            </a:avLst>
          </a:prstGeom>
          <a:solidFill>
            <a:srgbClr val="FEF2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274320" y="1783080"/>
            <a:ext cx="64008" cy="914400"/>
          </a:xfrm>
          <a:prstGeom prst="rect">
            <a:avLst/>
          </a:prstGeom>
          <a:solidFill>
            <a:srgbClr val="E07A3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57200" y="178308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A3A"/>
                </a:solidFill>
              </a:rPr>
              <a:t>P1 嚴重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920240" y="178308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審稿人一定會指出，Major Revision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78308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</a:rPr>
              <a:t>缺少 Baseline 比較、統計不足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788920"/>
            <a:ext cx="8595360" cy="914400"/>
          </a:xfrm>
          <a:prstGeom prst="roundRect">
            <a:avLst>
              <a:gd name="adj" fmla="val 6000"/>
            </a:avLst>
          </a:prstGeom>
          <a:solidFill>
            <a:srgbClr val="FFF7E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274320" y="2788920"/>
            <a:ext cx="64008" cy="914400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457200" y="278892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A820"/>
                </a:solidFill>
              </a:rPr>
              <a:t>P2 重要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920240" y="278892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可能被要求修改，Minor Revision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278892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</a:rPr>
              <a:t>圖表品質不佳、寫作不夠清晰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794760"/>
            <a:ext cx="8595360" cy="914400"/>
          </a:xfrm>
          <a:prstGeom prst="roundRect">
            <a:avLst>
              <a:gd name="adj" fmla="val 6000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274320" y="3794760"/>
            <a:ext cx="64008" cy="9144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457200" y="379476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9D8A"/>
                </a:solidFill>
              </a:rPr>
              <a:t>P3 次要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920240" y="3794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錦上添花，改了更好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37947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</a:rPr>
              <a:t>排版微調、用詞優化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MVP 門檻檢查：mvp-gatekeeper skill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Gate 1: 研究問題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明確定義？與現有文獻有區別？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70916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Gate 2: 方法論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1208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技術上可行？有理論支撐？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27432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Gate 3: 實驗設計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Baseline 足夠？統計有效？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70916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208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Gate 4: 數據支撐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所有 Claim 都有 Evidence？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4320" y="251460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274320" y="2514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2468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Gate 5: 寫作完成度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278892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所有章節完成？語言品質達標？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251460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4709160" y="2514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12080" y="2468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Gate 6: 投稿就緒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12080" y="278892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格式正確？附件齊全？Cover Letter？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82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D8A"/>
                </a:solidFill>
              </a:rPr>
              <a:t>多 AI 協作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Claude × ChatGPT × Gemini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平行審查策略</a:t>
            </a:r>
            <a:endParaRPr lang="en-US" sz="3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5.2 為什麼需要多 AI 平行審查？（25 min）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單一 AI 有盲點 → 多 AI 交叉檢查 → 覆蓋率最大化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不同模型擅長不同面向 → 互補而非替代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Claude Code：系統化 Skill 生態系，七維度評分 + 引用驗證 + 數據一致性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6517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ChatGPT (GPT-4o)：結構/寫作流暢度，段落邏輯、Grammar、可讀性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Gemini (2.5 Pro)：事實查核/長文檢索，引用事實核對、最新文獻覆蓋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5661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三者交叉：Claude 找數據問題 + ChatGPT 找寫作問題 + Gemini 找事實問題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0233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人工整合：三份報告合併 → 去重 → P0-P3 排序 → 修改優先級</a:t>
            </a:r>
            <a:endParaRPr lang="en-US" sz="13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三 AI 分工策略表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164592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AI 工具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強項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審查重點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使用方式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Claude Code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系統化 + Skill 生態系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七維度評分 + P0-P3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引用驗證 + 數據一致性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/review-paper 自動化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ChatGPT (GPT-4o)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結構 + 寫作流暢度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段落邏輯 + Grammar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論述連貫性 + 可讀性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Custom GPT / Prompt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Gemini 2.5 Pro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事實查核 + 長文檢索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引用事實核對 + 數據聲明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最新文獻覆蓋度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NotebookLM / Deep Research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0040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4"/>
          <p:cNvSpPr/>
          <p:nvPr/>
        </p:nvSpPr>
        <p:spPr>
          <a:xfrm>
            <a:off x="384048" y="320040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建議順序：Claude（自動化最快）→ ChatGPT（寫作）→ Gemini（事實查核）→ 人工整合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平行審查操作流程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94360" cy="59436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8412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</a:rPr>
              <a:t>Claude Code（自動化）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/review-paper paper.qmd "SETA"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029968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0299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→ citation-checker → data-validator → paper-reviewer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2505456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2505456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→ 輸出：七維度評分 + P0-P3 問題清單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98094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298094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優勢：全自動、可重複、有 Skill 知識庫支撐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3456432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4360" y="34564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耗時：約 3-5 分鐘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平行審查操作流程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94360" cy="59436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8412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</a:rPr>
              <a:t>ChatGPT（寫作審查）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Prompt: "Review this paper as a senior reviewer for [journal]."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029968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0299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"Focus on: structure, argumentation flow, writing clarity,"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2505456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2505456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"and paragraph-level logic. List issues by severity."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298094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298094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輸出：寫作/邏輯問題清單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3456432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4564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優勢：自然語言流暢度判斷最強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3931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耗時：約 5-10 分鐘（含 Prompt 調整）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平行審查操作流程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94360" cy="59436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8412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</a:rPr>
              <a:t>Gemini Deep Research（事實查核）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Prompt: "Fact-check all claims and citations in this paper."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029968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0299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"Verify: (1) cited papers exist (2) claims match source"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2505456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2505456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"(3) any missing recent key references (2023-2026)."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298094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298094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→ 輸出：事實核查報告 + 遺漏文獻清單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3456432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4564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優勢：Deep Research 可深入交叉比對原始文獻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•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3931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耗時：約 10-15 分鐘（Deep Research 模式）</a:t>
            </a:r>
            <a:endParaRPr lang="en-US" sz="1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平行審查操作流程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94360" cy="594360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8412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</a:rPr>
              <a:t>人工整合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三份報告合併 → 去重（同一問題不同描述）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029968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0299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按 P0-P3 統一分級 → 建立修改優先級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2505456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2505456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P0 第一時間修正 → P1 本週內修正 → P2/P3 投稿前修正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98094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298094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修正後再跑一輪 Claude 驗證 → 確認 P0 = 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3456432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9D8A"/>
                </a:solidFill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4360" y="34564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整合模板：parallel-review-template.md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274320" y="109728"/>
            <a:ext cx="1280160" cy="438912"/>
          </a:xfrm>
          <a:prstGeom prst="roundRect">
            <a:avLst>
              <a:gd name="adj" fmla="val 12500"/>
            </a:avLst>
          </a:prstGeom>
          <a:solidFill>
            <a:srgbClr val="FFC857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3C5D"/>
                </a:solidFill>
              </a:rPr>
              <a:t>範例展示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0"/>
            <a:ext cx="7132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案例：SETA 論文平行審查發現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8595360" cy="777240"/>
          </a:xfrm>
          <a:prstGeom prst="roundRect">
            <a:avLst>
              <a:gd name="adj" fmla="val 7059"/>
            </a:avLst>
          </a:prstGeom>
          <a:solidFill>
            <a:srgbClr val="FEF2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274320" y="777240"/>
            <a:ext cx="64008" cy="777240"/>
          </a:xfrm>
          <a:prstGeom prst="rect">
            <a:avLst/>
          </a:prstGeom>
          <a:solidFill>
            <a:srgbClr val="E07A3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457200" y="8046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7A3A"/>
                </a:solidFill>
              </a:rPr>
              <a:t>情境：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804672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同一篇 NILM 論文，三個 AI 分別找到不同問題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1691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回覆：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8595360" cy="2743200"/>
          </a:xfrm>
          <a:prstGeom prst="roundRect">
            <a:avLst>
              <a:gd name="adj" fmla="val 20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57200" y="210312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Claude Code 發現：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P0: Table 2 F1=0.848 vs 文中 F1=0.82（數據不一致）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P1: 2 筆引用 DOI 無效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ChatGPT 發現：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P1: Discussion 段 2→3 邏輯跳躍（缺銜接句）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P2: 全文 passive voice 比例 &gt; 70%（可讀性差）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Gemini 發現：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P1: @Lee2023 年份應為 2024（新版已更新）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P2: 缺少 2025 兩篇重要 survey（競爭力不足）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5.3 三層引用驗證（15 min）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Layer 1：存在性驗證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DOI 是否有效？作者名是否正確？年份是否匹配？→ citation-checker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70916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Layer 2：準確性驗證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12080" y="114300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你的引用主張是否與原文一致？有無斷章取義？→ 人工 + Gemini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87452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27432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18288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Layer 3：完整性驗證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214884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references.bib 中所有條目都有被引用嗎？有無孤立引用？→ bib-manager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187452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70916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2080" y="18288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圖表交叉引用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214884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所有 @fig-x 和 @tbl-x 都有對應物件？編號是否連續？→ figure-table-checker</a:t>
            </a:r>
            <a:endParaRPr lang="en-US" sz="12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82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D8A"/>
                </a:solidFill>
              </a:rPr>
              <a:t>投稿前最後一關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Reviewer 預測與應對</a:t>
            </a:r>
            <a:endParaRPr lang="en-US" sz="32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5.4 AI 模擬審稿人提問（15 min）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1188720"/>
          </a:xfrm>
          <a:prstGeom prst="roundRect">
            <a:avLst>
              <a:gd name="adj" fmla="val 6154"/>
            </a:avLst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896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C5D"/>
                </a:solidFill>
              </a:rPr>
              <a:t>投稿前讓 AI 扮演嚴格審稿人，預測最可能的質疑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提前準備回答 → 直接強化論文 or 備好 Rebuttal 素材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Prompt："Act as a critical Reviewer 2 for [journal]..."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578608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57860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常見問題 1：「你的方法與 [existing method] 的本質區別？」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962656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2962656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常見問題 2：「只在一個數據集上驗證，泛化性如何保證？」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346704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346704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常見問題 3：「缺少 computation cost 比較」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73075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730752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常見問題 4：「統計顯著性不足，能否提供 confidence interval？」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11480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9D8A"/>
                </a:solidFill>
              </a:rPr>
              <a:t>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11480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rebuttal-matrix skill：建立問題-回答對照表，追蹤修改進度</a:t>
            </a:r>
            <a:endParaRPr lang="en-US" sz="12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274320" y="109728"/>
            <a:ext cx="1280160" cy="438912"/>
          </a:xfrm>
          <a:prstGeom prst="roundRect">
            <a:avLst>
              <a:gd name="adj" fmla="val 12500"/>
            </a:avLst>
          </a:prstGeom>
          <a:solidFill>
            <a:srgbClr val="FFC857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3C5D"/>
                </a:solidFill>
              </a:rPr>
              <a:t>範例展示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0"/>
            <a:ext cx="7132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案例：4 個預測問題與回答策略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8595360" cy="777240"/>
          </a:xfrm>
          <a:prstGeom prst="roundRect">
            <a:avLst>
              <a:gd name="adj" fmla="val 7059"/>
            </a:avLst>
          </a:prstGeom>
          <a:solidFill>
            <a:srgbClr val="FEF2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274320" y="777240"/>
            <a:ext cx="64008" cy="777240"/>
          </a:xfrm>
          <a:prstGeom prst="rect">
            <a:avLst/>
          </a:prstGeom>
          <a:solidFill>
            <a:srgbClr val="E07A3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457200" y="8046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7A3A"/>
                </a:solidFill>
              </a:rPr>
              <a:t>情境：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804672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AI 模擬 SETA 期刊審稿人，預測最可能的 4 個質疑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1691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9D8A"/>
                </a:solidFill>
              </a:rPr>
              <a:t>回覆：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8595360" cy="2743200"/>
          </a:xfrm>
          <a:prstGeom prst="roundRect">
            <a:avLst>
              <a:gd name="adj" fmla="val 20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57200" y="210312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Q1: HTF-CNN vs 標準 CNN 的理論優勢？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→ 強化 Methods 中的頻域特徵分析段落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Q2: 只用工廠數據集，泛化性？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→ 補充 IMDELD 數據集實驗（已有 97.55%）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Q3: 實際部署的 inference 時間？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→ 新增 Table：inference time comparison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Q4: 1Hz 採樣的 Nyquist 限制影響？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  → Discussion 中坦承限制 + 提出未來高頻方案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82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D8A"/>
                </a:solidFill>
              </a:rPr>
              <a:t>Phase 11+12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投稿策略與流程</a:t>
            </a:r>
            <a:endParaRPr lang="en-US" sz="32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5.5 期刊選擇方法論：加權評分表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19202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維度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權重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SETA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Energy &amp; Buildings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Applied Energy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Scope 匹配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30%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9/10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7/10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8/10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Impact Factor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20%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7.2 (Good)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7.1 (Good)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11.2 (High)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審稿速度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15%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3-4 個月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4-6 個月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6-8 個月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錄取率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15%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~25%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~20%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~15%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方法論偏好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AI+可持續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建築節能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綜合能源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近期趨勢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NILM 相關文章多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較少 NILM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有 NILM 專題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420624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4"/>
          <p:cNvSpPr/>
          <p:nvPr/>
        </p:nvSpPr>
        <p:spPr>
          <a:xfrm>
            <a:off x="384048" y="420624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journal-fit skill：自動分析目標期刊近 100 篇文章，評估你的論文適配度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投稿素材 10 項清單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1. 論文 PDF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期刊格式 + 行號 + review 模式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70916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2. 論文 .tex 源碼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1208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quarto render --keep-tex 產出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27432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3. Cover Letter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submission-helper agent 自動生成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70916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208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4. 高解析度圖表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SVG/PDF/TIFF, 300+ DPI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4320" y="251460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274320" y="2514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2468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5. Supplementary Material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278892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補充實驗、詳細數據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251460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4709160" y="2514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12080" y="2468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6. Author Statement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12080" y="278892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CRediT 貢獻聲明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投稿素材 10 項清單（續）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7. Highlights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3-5 bullet points，每點 &lt; 85 字元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70916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8. Graphical Abstract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12080" y="114300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800×400px 視覺摘要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87452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27432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18288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9. Suggested Reviewers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214884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3-5 人 + 理由（避免利益衝突）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187452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70916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2080" y="18288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10. Data Availability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214884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聲明數據可取得性 + 代碼倉庫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submission-bundle skill：自動打包驗證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28600" y="1097280"/>
            <a:ext cx="2068830" cy="2377440"/>
          </a:xfrm>
          <a:prstGeom prst="rect">
            <a:avLst/>
          </a:prstGeom>
          <a:solidFill>
            <a:srgbClr val="0B3C5D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942975" y="120700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942975" y="12070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3C5D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83464" y="1965960"/>
            <a:ext cx="195910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格式檢查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1752" y="2377440"/>
            <a:ext cx="192252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YAML 欄位完整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期刊格式正確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06574" y="2057400"/>
            <a:ext cx="128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A"/>
                </a:solidFill>
              </a:rPr>
              <a:t>▶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34590" y="1097280"/>
            <a:ext cx="2068830" cy="2377440"/>
          </a:xfrm>
          <a:prstGeom prst="rect">
            <a:avLst/>
          </a:prstGeom>
          <a:solidFill>
            <a:srgbClr val="0F9D8A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3148965" y="120700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3148965" y="12070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9D8A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489454" y="1965960"/>
            <a:ext cx="195910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內容檢查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07742" y="2377440"/>
            <a:ext cx="192252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圖表編號連續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引用完整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12564" y="2057400"/>
            <a:ext cx="128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A"/>
                </a:solidFill>
              </a:rPr>
              <a:t>▶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40580" y="1097280"/>
            <a:ext cx="2068830" cy="2377440"/>
          </a:xfrm>
          <a:prstGeom prst="rect">
            <a:avLst/>
          </a:prstGeom>
          <a:solidFill>
            <a:srgbClr val="E6A820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5354955" y="120700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5354955" y="12070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6A820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695444" y="1965960"/>
            <a:ext cx="195910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檔案清單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13732" y="2377440"/>
            <a:ext cx="192252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10 項素材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逐一確認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18554" y="2057400"/>
            <a:ext cx="128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A"/>
                </a:solidFill>
              </a:rPr>
              <a:t>▶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46570" y="1097280"/>
            <a:ext cx="2068830" cy="2377440"/>
          </a:xfrm>
          <a:prstGeom prst="rect">
            <a:avLst/>
          </a:prstGeom>
          <a:solidFill>
            <a:srgbClr val="0A7A6B"/>
          </a:solidFill>
          <a:ln/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7560945" y="120700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7560945" y="12070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A7A6B"/>
                </a:solidFill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901434" y="1965960"/>
            <a:ext cx="195910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最終打包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19722" y="2377440"/>
            <a:ext cx="192252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建立 ZIP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D4F0EB"/>
                </a:solidFill>
              </a:rPr>
              <a:t>附檢查報告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384048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384048" y="384048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/prepare-submission "SETA" → 自動執行以上 4 步 → 產出 submission-ready.zip</a:t>
            </a:r>
            <a:endParaRPr lang="en-US" sz="1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16:30-17:30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總結與下一步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F9D8A"/>
                </a:solidFill>
              </a:rPr>
              <a:t>系統回顧 + 部署指南 + 學習路徑 + Q&amp;A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3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5.6 完整工作流回顧：12 Phase 全貌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10515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857"/>
                </a:solidFill>
              </a:rPr>
              <a:t>P1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155448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方向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54480" y="13716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737360" y="91440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1737360" y="10515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857"/>
                </a:solidFill>
              </a:rPr>
              <a:t>P2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737360" y="155448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文獻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017520" y="13716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0" y="91440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200400" y="10515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857"/>
                </a:solidFill>
              </a:rPr>
              <a:t>P3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00400" y="155448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Gap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80560" y="13716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91440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663440" y="10515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857"/>
                </a:solidFill>
              </a:rPr>
              <a:t>P4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63440" y="155448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架構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943600" y="13716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91440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6126480" y="10515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857"/>
                </a:solidFill>
              </a:rPr>
              <a:t>P5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126480" y="155448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實驗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406640" y="13716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589520" y="91440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7589520" y="10515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857"/>
                </a:solidFill>
              </a:rPr>
              <a:t>P6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589520" y="155448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監控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74320" y="274320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274320" y="28803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857"/>
                </a:solidFill>
              </a:rPr>
              <a:t>P7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74320" y="338328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統計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55448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737360" y="274320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3" name="Text 31"/>
          <p:cNvSpPr/>
          <p:nvPr/>
        </p:nvSpPr>
        <p:spPr>
          <a:xfrm>
            <a:off x="1737360" y="28803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857"/>
                </a:solidFill>
              </a:rPr>
              <a:t>P8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737360" y="338328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撰寫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01752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00400" y="274320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7" name="Text 35"/>
          <p:cNvSpPr/>
          <p:nvPr/>
        </p:nvSpPr>
        <p:spPr>
          <a:xfrm>
            <a:off x="3200400" y="28803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857"/>
                </a:solidFill>
              </a:rPr>
              <a:t>P9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3200400" y="338328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圖表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48056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663440" y="274320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1" name="Text 39"/>
          <p:cNvSpPr/>
          <p:nvPr/>
        </p:nvSpPr>
        <p:spPr>
          <a:xfrm>
            <a:off x="4663440" y="28803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857"/>
                </a:solidFill>
              </a:rPr>
              <a:t>P10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4663440" y="338328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審查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94360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126480" y="274320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5" name="Text 43"/>
          <p:cNvSpPr/>
          <p:nvPr/>
        </p:nvSpPr>
        <p:spPr>
          <a:xfrm>
            <a:off x="6126480" y="28803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857"/>
                </a:solidFill>
              </a:rPr>
              <a:t>P11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6126480" y="338328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投稿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740664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589520" y="274320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9" name="Text 47"/>
          <p:cNvSpPr/>
          <p:nvPr/>
        </p:nvSpPr>
        <p:spPr>
          <a:xfrm>
            <a:off x="7589520" y="28803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857"/>
                </a:solidFill>
              </a:rPr>
              <a:t>P12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7589520" y="338328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回覆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68680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B7A"/>
                </a:solidFill>
              </a:rPr>
              <a:t>▼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4320" y="4434840"/>
            <a:ext cx="8595360" cy="384048"/>
          </a:xfrm>
          <a:prstGeom prst="rect">
            <a:avLst/>
          </a:prstGeom>
          <a:solidFill>
            <a:srgbClr val="E8F4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3" name="Text 51"/>
          <p:cNvSpPr/>
          <p:nvPr/>
        </p:nvSpPr>
        <p:spPr>
          <a:xfrm>
            <a:off x="384048" y="4434840"/>
            <a:ext cx="8375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3C5D"/>
                </a:solidFill>
              </a:rPr>
              <a:t>24 Skills + 8 Agents + 5 Commands — AI 參與度 65-70%，人類掌握核心決策</a:t>
            </a:r>
            <a:endParaRPr lang="en-US" sz="12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5.7 部署這套系統到你的研究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Step 1：安裝基礎工具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Claude Code CLI + Quarto + VS Code + Zotero + Obsidian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709160" y="868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0" y="822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Step 2：解壓 research-workspace.zip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12080" y="114300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包含 24 Skills + 8 Agents + 5 Commands + 模板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27432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Step 3：客製化 CLAUDE.md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修改研究主題、目標期刊、目錄結構、實驗規範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169164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70916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2080" y="16459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Step 4：建立 Obsidian Vault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196596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匯入文獻筆記卡、建立雙向連結、啟用 Graph View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4320" y="251460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274320" y="2514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2468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Step 5：設定 TG Bot（選修）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278892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遠端 GPU 實驗監控 → 手機即時掌控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2514600"/>
            <a:ext cx="384048" cy="384048"/>
          </a:xfrm>
          <a:prstGeom prst="ellipse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4709160" y="2514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12080" y="2468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</a:rPr>
              <a:t>Step 6：開始第一篇論文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12080" y="278892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A"/>
                </a:solidFill>
              </a:rPr>
              <a:t>/analyze-literature → /review-paper → /prepare-submission</a:t>
            </a:r>
            <a:endParaRPr lang="en-US" sz="12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5.8 學習路徑規劃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2743200" cy="3840480"/>
          </a:xfrm>
          <a:prstGeom prst="roundRect">
            <a:avLst>
              <a:gd name="adj" fmla="val 2667"/>
            </a:avLst>
          </a:prstGeom>
          <a:solidFill>
            <a:srgbClr val="E8F4F2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2743200" cy="54864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W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4630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9D8A"/>
                </a:solidFill>
              </a:rPr>
              <a:t>本週行動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874520"/>
            <a:ext cx="252374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安裝所有工具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建立 research-workspace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整理 5 篇核心文獻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建立 QMD 論文骨架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用 CARE 框架探索方向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822960"/>
            <a:ext cx="2743200" cy="3840480"/>
          </a:xfrm>
          <a:prstGeom prst="roundRect">
            <a:avLst>
              <a:gd name="adj" fmla="val 2667"/>
            </a:avLst>
          </a:prstGeom>
          <a:solidFill>
            <a:srgbClr val="E8EDF4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3200400" y="822960"/>
            <a:ext cx="2743200" cy="54864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320040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M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291840" y="14630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C5D"/>
                </a:solidFill>
              </a:rPr>
              <a:t>1 個月目標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10128" y="1874520"/>
            <a:ext cx="252374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完成完整文獻調研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確認 Research Gap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完成 Methods 初稿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設計實驗方案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建立 references.bib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822960"/>
            <a:ext cx="2743200" cy="3840480"/>
          </a:xfrm>
          <a:prstGeom prst="roundRect">
            <a:avLst>
              <a:gd name="adj" fmla="val 2667"/>
            </a:avLst>
          </a:prstGeom>
          <a:solidFill>
            <a:srgbClr val="FFF7E6"/>
          </a:solidFill>
          <a:ln/>
          <a:effectLst>
            <a:outerShdw blurRad="762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6126480" y="822960"/>
            <a:ext cx="2743200" cy="54864"/>
          </a:xfrm>
          <a:prstGeom prst="rect">
            <a:avLst/>
          </a:prstGeom>
          <a:solidFill>
            <a:srgbClr val="E6A82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612648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Q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17920" y="14630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6A820"/>
                </a:solidFill>
              </a:rPr>
              <a:t>3 個月目標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36208" y="1874520"/>
            <a:ext cx="252374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完成實驗 + 統計驗證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撰寫完整論文初稿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通過七維度自我審查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三 AI 平行審查修正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投稿第一篇 SCI/SCIE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AI 不會取代研究者</a:t>
            </a:r>
            <a:endParaRPr lang="en-US" sz="3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但會用 AI 的研究者</a:t>
            </a:r>
            <a:endParaRPr lang="en-US" sz="3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將取代不會的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9D8A"/>
                </a:solidFill>
              </a:rPr>
              <a:t>開始使用這套系統，讓 AI 成為你的研究加速器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3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課程評估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19202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評估項目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佔比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評估標準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D1 實作練習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20%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CARE Prompt + API 驗證 3 DOI + 3 篇 Obsidian 筆記卡 + 5 篇 BibTeX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D2 實作練習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20%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QMD 骨架 + Abstract + 3 引用 + SVG 圖（進階）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課堂參與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20%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提問、討論、分享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研究方向報告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15%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明確研究問題 + Gap 分析 + 期刊匹配初評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論文框架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15%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完整 QMD 骨架 + BibTeX + 所有引用經 API 驗證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系統部署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安裝 research-workspace + Obsidian Vault 建立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C857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6583680" y="-457200"/>
            <a:ext cx="3200400" cy="3200400"/>
          </a:xfrm>
          <a:prstGeom prst="ellipse">
            <a:avLst/>
          </a:prstGeom>
          <a:solidFill>
            <a:srgbClr val="0F9D8A">
              <a:alpha val="1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7132320" y="457200"/>
            <a:ext cx="2286000" cy="2286000"/>
          </a:xfrm>
          <a:prstGeom prst="ellipse">
            <a:avLst/>
          </a:prstGeom>
          <a:solidFill>
            <a:srgbClr val="FFC857">
              <a:alpha val="2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</a:rPr>
              <a:t>Thank You!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F9D8A"/>
                </a:solidFill>
              </a:rPr>
              <a:t>開始你的 AI 輔助研究之旅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C857"/>
                </a:solidFill>
              </a:rPr>
              <a:t>research-workspace.zip | CLAUDE.md | 24 Skills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4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5219</Words>
  <Application>Microsoft Macintosh PowerPoint</Application>
  <PresentationFormat>如螢幕大小 (16:9)</PresentationFormat>
  <Paragraphs>1408</Paragraphs>
  <Slides>87</Slides>
  <Notes>87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87</vt:i4>
      </vt:variant>
    </vt:vector>
  </HeadingPairs>
  <TitlesOfParts>
    <vt:vector size="90" baseType="lpstr">
      <vt:lpstr>Arial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Paper Workshop - Day 2 Full</dc:title>
  <dc:subject>PptxGenJS Presentation</dc:subject>
  <dc:creator>Alan Chen</dc:creator>
  <cp:lastModifiedBy>D11351004</cp:lastModifiedBy>
  <cp:revision>2</cp:revision>
  <dcterms:created xsi:type="dcterms:W3CDTF">2026-03-19T10:35:56Z</dcterms:created>
  <dcterms:modified xsi:type="dcterms:W3CDTF">2026-03-19T12:34:01Z</dcterms:modified>
</cp:coreProperties>
</file>