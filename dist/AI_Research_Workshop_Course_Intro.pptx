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C8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"/>
            <a:ext cx="109728" cy="5070348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0" y="-457200"/>
            <a:ext cx="3200400" cy="3200400"/>
          </a:xfrm>
          <a:prstGeom prst="ellipse">
            <a:avLst/>
          </a:prstGeom>
          <a:solidFill>
            <a:srgbClr val="0F9D8A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132320" y="457200"/>
            <a:ext cx="2286000" cy="2286000"/>
          </a:xfrm>
          <a:prstGeom prst="ellipse">
            <a:avLst/>
          </a:prstGeom>
          <a:solidFill>
            <a:srgbClr val="FFC857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731520"/>
            <a:ext cx="6858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學術研究</a:t>
            </a:r>
            <a:endParaRPr lang="en-US" sz="4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全流程工作坊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365760" y="283464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從概念探索到論文投稿的完整 AI 協作工作流程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65760" y="3456432"/>
            <a:ext cx="868680" cy="320040"/>
          </a:xfrm>
          <a:prstGeom prst="roundRect">
            <a:avLst>
              <a:gd name="adj" fmla="val 17143"/>
            </a:avLst>
          </a:prstGeom>
          <a:solidFill>
            <a:srgbClr val="0F9D8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456432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 Days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71600" y="3456432"/>
            <a:ext cx="868680" cy="320040"/>
          </a:xfrm>
          <a:prstGeom prst="roundRect">
            <a:avLst>
              <a:gd name="adj" fmla="val 17143"/>
            </a:avLst>
          </a:prstGeom>
          <a:solidFill>
            <a:srgbClr val="0F9D8A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456432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 Phases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14600" y="3456432"/>
            <a:ext cx="868680" cy="320040"/>
          </a:xfrm>
          <a:prstGeom prst="roundRect">
            <a:avLst>
              <a:gd name="adj" fmla="val 17143"/>
            </a:avLst>
          </a:prstGeom>
          <a:solidFill>
            <a:srgbClr val="0F9D8A"/>
          </a:solidFill>
          <a:ln/>
        </p:spPr>
      </p:sp>
      <p:sp>
        <p:nvSpPr>
          <p:cNvPr id="13" name="Text 11"/>
          <p:cNvSpPr/>
          <p:nvPr/>
        </p:nvSpPr>
        <p:spPr>
          <a:xfrm>
            <a:off x="2514600" y="3456432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24 Skills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11880" y="3456432"/>
            <a:ext cx="868680" cy="320040"/>
          </a:xfrm>
          <a:prstGeom prst="roundRect">
            <a:avLst>
              <a:gd name="adj" fmla="val 17143"/>
            </a:avLst>
          </a:prstGeom>
          <a:solidFill>
            <a:srgbClr val="0F9D8A"/>
          </a:solidFill>
          <a:ln/>
        </p:spPr>
      </p:sp>
      <p:sp>
        <p:nvSpPr>
          <p:cNvPr id="15" name="Text 13"/>
          <p:cNvSpPr/>
          <p:nvPr/>
        </p:nvSpPr>
        <p:spPr>
          <a:xfrm>
            <a:off x="3611880" y="3456432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 Agents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17720" y="3456432"/>
            <a:ext cx="868680" cy="320040"/>
          </a:xfrm>
          <a:prstGeom prst="roundRect">
            <a:avLst>
              <a:gd name="adj" fmla="val 17143"/>
            </a:avLst>
          </a:prstGeom>
          <a:solidFill>
            <a:srgbClr val="0F9D8A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3456432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 Commands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760720" y="3456432"/>
            <a:ext cx="868680" cy="320040"/>
          </a:xfrm>
          <a:prstGeom prst="roundRect">
            <a:avLst>
              <a:gd name="adj" fmla="val 17143"/>
            </a:avLst>
          </a:prstGeom>
          <a:solidFill>
            <a:srgbClr val="0F9D8A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0" y="3456432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 APIs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4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4754880"/>
            <a:ext cx="84124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Smart Manufacturing Research Lab  |  L1D2 + L2D1  |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為什麼需要這堂課？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68680"/>
            <a:ext cx="41605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68680"/>
            <a:ext cx="64008" cy="1234440"/>
          </a:xfrm>
          <a:prstGeom prst="rect">
            <a:avLst/>
          </a:prstGeom>
          <a:solidFill>
            <a:srgbClr val="E07A3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研究痛點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216152"/>
            <a:ext cx="397764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文獻查找耗時耗力，AI 產出的 DOI 不可信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論文撰寫繁瑣，格式反覆調整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品質審查靠人工——遺漏率高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實驗監控無法遠端追蹤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868680"/>
            <a:ext cx="41605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868680"/>
            <a:ext cx="64008" cy="1234440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解方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92040" y="1216152"/>
            <a:ext cx="397764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CrossRef/Semantic Scholar API 多重驗證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QMD + YAML 一鍵轉換多期刊格式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Claude×ChatGPT×Gemini 三 AI 平行審查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Telegram Bot 三層即時監控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251960" y="1188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F9D8A"/>
                </a:solidFill>
              </a:rPr>
              <a:t>➡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28600" y="2331720"/>
            <a:ext cx="868680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28600" y="2331720"/>
            <a:ext cx="64008" cy="233172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40487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本工作坊的核心差異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2679192"/>
            <a:ext cx="850392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 AI 課程                     本工作坊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─────────────────────     ───────────────────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 ChatGPT 怎麼用              教從概念到投稿的端到端流程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工具導向                         流程導向，工具服務流程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單點示範                         系統化自動化（Skills + Agents + Commands）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無品質保證                     內建多維度審查 + P0-P3 分級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無後續追蹤                     提供完整系統可帶走部署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課程定位與受眾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68680"/>
            <a:ext cx="41605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68680"/>
            <a:ext cx="64008" cy="2011680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1：L1D2 初階進階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216152"/>
            <a:ext cx="397764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前提：用過 ChatGPT/Claude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重心：概念探索 + 文獻研究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產出：研究方向 + 文獻管理系統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工具：Claude Chat + Prompt Engineering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角色：「聰明的助教」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適合：研究生、博士生、產學合作研究員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868680"/>
            <a:ext cx="41605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868680"/>
            <a:ext cx="64008" cy="201168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2：L2D1 中階入門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92040" y="1216152"/>
            <a:ext cx="397764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前提：完成 Day 1、會寫結構化 Prompt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重心：實驗設計 + 論文撰寫 + 品質保證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產出：論文初稿框架 + 品質審查報告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工具：Claude Code + QMD + BibTeX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角色：「研究團隊」（8 個專家 Agent）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適合：有明確研究主題的研究生/博士生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3108960"/>
            <a:ext cx="8686800" cy="1554480"/>
          </a:xfrm>
          <a:prstGeom prst="rect">
            <a:avLst/>
          </a:prstGeom>
          <a:solidFill>
            <a:srgbClr val="E8F4F2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31821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</a:rPr>
              <a:t>學員前置準備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3493008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Day 1 前：註冊 Claude 帳號 + 準備研究主題 + 安裝 VS Code（可選）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Day 2 前：安裝 Claude Code CLI + 安裝 Quarto + 準備 5 篇 PDF 文獻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完整工作流程：11 Phase 總覽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68680"/>
            <a:ext cx="2068830" cy="2011680"/>
          </a:xfrm>
          <a:prstGeom prst="rect">
            <a:avLst/>
          </a:prstGeom>
          <a:solidFill>
            <a:srgbClr val="0F9D8A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70407" y="960120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970407" y="9601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9D8A"/>
                </a:solidFill>
              </a:rPr>
              <a:t>P1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8600" y="1618488"/>
            <a:ext cx="20688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概念探索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3464" y="1984248"/>
            <a:ext cx="19591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AI 對話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方向確認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306574" y="1645920"/>
            <a:ext cx="11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34590" y="868680"/>
            <a:ext cx="2068830" cy="2011680"/>
          </a:xfrm>
          <a:prstGeom prst="rect">
            <a:avLst/>
          </a:prstGeom>
          <a:solidFill>
            <a:srgbClr val="134B6E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76397" y="960120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3176397" y="9601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4B6E"/>
                </a:solidFill>
              </a:rPr>
              <a:t>P2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434590" y="1618488"/>
            <a:ext cx="20688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文獻調研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89454" y="1984248"/>
            <a:ext cx="19591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DOI→API驗證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Zotero→Obsidian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12564" y="1645920"/>
            <a:ext cx="11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40580" y="868680"/>
            <a:ext cx="2068830" cy="2011680"/>
          </a:xfrm>
          <a:prstGeom prst="rect">
            <a:avLst/>
          </a:prstGeom>
          <a:solidFill>
            <a:srgbClr val="0B3C5D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82387" y="960120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5382387" y="9601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C5D"/>
                </a:solidFill>
              </a:rPr>
              <a:t>P3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640580" y="1618488"/>
            <a:ext cx="20688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研究定位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95444" y="1984248"/>
            <a:ext cx="19591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Research Gap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主編分析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18554" y="1645920"/>
            <a:ext cx="11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46570" y="868680"/>
            <a:ext cx="2068830" cy="2011680"/>
          </a:xfrm>
          <a:prstGeom prst="rect">
            <a:avLst/>
          </a:prstGeom>
          <a:solidFill>
            <a:srgbClr val="0B3C5D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588377" y="960120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7588377" y="9601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C5D"/>
                </a:solidFill>
              </a:rPr>
              <a:t>P4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846570" y="1618488"/>
            <a:ext cx="20688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論文架構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01434" y="1984248"/>
            <a:ext cx="19591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IMRaD 設計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MD→QMD→YAML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28600" y="3063240"/>
            <a:ext cx="2068830" cy="2011680"/>
          </a:xfrm>
          <a:prstGeom prst="rect">
            <a:avLst/>
          </a:prstGeom>
          <a:solidFill>
            <a:srgbClr val="0F9D8A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70407" y="3154680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970407" y="31546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9D8A"/>
                </a:solidFill>
              </a:rPr>
              <a:t>P5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228600" y="3813048"/>
            <a:ext cx="20688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實驗設計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83464" y="4178808"/>
            <a:ext cx="19591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IDE + Colab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遠端 3090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306574" y="3840480"/>
            <a:ext cx="11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434590" y="3063240"/>
            <a:ext cx="2068830" cy="2011680"/>
          </a:xfrm>
          <a:prstGeom prst="rect">
            <a:avLst/>
          </a:prstGeom>
          <a:solidFill>
            <a:srgbClr val="134B6E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176397" y="3154680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3176397" y="31546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4B6E"/>
                </a:solidFill>
              </a:rPr>
              <a:t>P6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2434590" y="3813048"/>
            <a:ext cx="20688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實驗執行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489454" y="4178808"/>
            <a:ext cx="19591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GPU 監控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TG Bot 通知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12564" y="3840480"/>
            <a:ext cx="11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640580" y="3063240"/>
            <a:ext cx="2068830" cy="2011680"/>
          </a:xfrm>
          <a:prstGeom prst="rect">
            <a:avLst/>
          </a:prstGeom>
          <a:solidFill>
            <a:srgbClr val="0B3C5D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382387" y="3154680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5382387" y="31546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C5D"/>
                </a:solidFill>
              </a:rPr>
              <a:t>P7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4640580" y="3813048"/>
            <a:ext cx="20688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數據分析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695444" y="4178808"/>
            <a:ext cx="19591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Skill 驗證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三角檢查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718554" y="3840480"/>
            <a:ext cx="11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846570" y="3063240"/>
            <a:ext cx="2068830" cy="2011680"/>
          </a:xfrm>
          <a:prstGeom prst="rect">
            <a:avLst/>
          </a:prstGeom>
          <a:solidFill>
            <a:srgbClr val="0B3C5D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588377" y="3154680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7588377" y="31546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C5D"/>
                </a:solidFill>
              </a:rPr>
              <a:t>P8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6846570" y="3813048"/>
            <a:ext cx="20688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論文撰寫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901434" y="4178808"/>
            <a:ext cx="195910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QMD→TeX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SVG 向量圖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28600" y="713232"/>
            <a:ext cx="731520" cy="201168"/>
          </a:xfrm>
          <a:prstGeom prst="roundRect">
            <a:avLst>
              <a:gd name="adj" fmla="val 27273"/>
            </a:avLst>
          </a:prstGeom>
          <a:solidFill>
            <a:srgbClr val="FFC857"/>
          </a:solidFill>
          <a:ln/>
        </p:spPr>
      </p:sp>
      <p:sp>
        <p:nvSpPr>
          <p:cNvPr id="52" name="Text 50"/>
          <p:cNvSpPr/>
          <p:nvPr/>
        </p:nvSpPr>
        <p:spPr>
          <a:xfrm>
            <a:off x="228600" y="71323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C5D"/>
                </a:solidFill>
              </a:rPr>
              <a:t>Day 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892040" y="2907792"/>
            <a:ext cx="731520" cy="201168"/>
          </a:xfrm>
          <a:prstGeom prst="roundRect">
            <a:avLst>
              <a:gd name="adj" fmla="val 27273"/>
            </a:avLst>
          </a:prstGeom>
          <a:solidFill>
            <a:srgbClr val="FFC857"/>
          </a:solidFill>
          <a:ln/>
        </p:spPr>
      </p:sp>
      <p:sp>
        <p:nvSpPr>
          <p:cNvPr id="54" name="Text 52"/>
          <p:cNvSpPr/>
          <p:nvPr/>
        </p:nvSpPr>
        <p:spPr>
          <a:xfrm>
            <a:off x="4892040" y="290779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C5D"/>
                </a:solidFill>
              </a:rPr>
              <a:t>Day 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工具生態系 + 流程續篇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68680"/>
            <a:ext cx="2804160" cy="2011680"/>
          </a:xfrm>
          <a:prstGeom prst="rect">
            <a:avLst/>
          </a:prstGeom>
          <a:solidFill>
            <a:srgbClr val="0F9D8A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38072" y="960120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338072" y="9601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9D8A"/>
                </a:solidFill>
              </a:rPr>
              <a:t>P9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8600" y="1618488"/>
            <a:ext cx="280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品質審查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3464" y="1984248"/>
            <a:ext cx="2694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三 AI 平行審查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P0-P3 分級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1904" y="1645920"/>
            <a:ext cx="11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69920" y="868680"/>
            <a:ext cx="2804160" cy="2011680"/>
          </a:xfrm>
          <a:prstGeom prst="rect">
            <a:avLst/>
          </a:prstGeom>
          <a:solidFill>
            <a:srgbClr val="0F9D8A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79392" y="960120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279392" y="9601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9D8A"/>
                </a:solidFill>
              </a:rPr>
              <a:t>P10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69920" y="1618488"/>
            <a:ext cx="280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投稿準備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24784" y="1984248"/>
            <a:ext cx="2694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Cover Letter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10項素材清單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83224" y="1645920"/>
            <a:ext cx="11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11240" y="868680"/>
            <a:ext cx="2804160" cy="2011680"/>
          </a:xfrm>
          <a:prstGeom prst="rect">
            <a:avLst/>
          </a:prstGeom>
          <a:solidFill>
            <a:srgbClr val="0B3C5D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0712" y="960120"/>
            <a:ext cx="585216" cy="5852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220712" y="9601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C5D"/>
                </a:solidFill>
              </a:rPr>
              <a:t>P11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111240" y="1618488"/>
            <a:ext cx="280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審稿回覆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66104" y="1984248"/>
            <a:ext cx="2694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Rebuttal Matrix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4F0EB"/>
                </a:solidFill>
              </a:rPr>
              <a:t>逐條回應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28600" y="3108960"/>
            <a:ext cx="86868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11480" y="3182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5D"/>
                </a:solidFill>
              </a:rPr>
              <a:t>工具生態系總覽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11480" y="3566160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0F9D8A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1480" y="3639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24 Skills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11480" y="4114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F0EB"/>
                </a:solidFill>
              </a:rPr>
              <a:t>專業知識庫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60320" y="3566160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0B3C5D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560320" y="3639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8 Agents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2560320" y="4114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F0EB"/>
                </a:solidFill>
              </a:rPr>
              <a:t>AI 專家團隊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9160" y="3566160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0B3C5D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09160" y="3639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 Commands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4709160" y="4114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F0EB"/>
                </a:solidFill>
              </a:rPr>
              <a:t>一鍵工作流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858000" y="3566160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0F9D8A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858000" y="3639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 APIs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858000" y="4114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F0EB"/>
                </a:solidFill>
              </a:rPr>
              <a:t>文獻驗證服務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0F9D8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C5D"/>
                </a:solidFill>
              </a:rPr>
              <a:t>L1D2 初階進階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1: AI 研究基礎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從概念探索到文獻管理系統建立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30000"/>
            </a:srgbClr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1：AI 概念探索與研究方向確定（75 min）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6868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68680"/>
            <a:ext cx="64008" cy="1691640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 Prompt 工程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216152"/>
            <a:ext cx="39776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框架：Context / Action / Role / Example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套研究專用 Prompt 模板：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領域掃描  ② Research Gap 識別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可行性分析  ④ 創新性定位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研究問題精煉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86868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868680"/>
            <a:ext cx="64008" cy="169164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多輪對話策略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92040" y="1216152"/>
            <a:ext cx="39776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漸進式縮焦法（寬 → 窄）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Thinking 指令：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→ think hard → ultrathink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案例：從「智慧製造」到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「Training-Free NILM」的 5 輪對話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788920"/>
            <a:ext cx="8686800" cy="1920240"/>
          </a:xfrm>
          <a:prstGeom prst="rect">
            <a:avLst/>
          </a:prstGeom>
          <a:solidFill>
            <a:srgbClr val="E8F4F2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852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</a:rPr>
              <a:t>即時練習（15 min）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3182112"/>
            <a:ext cx="8321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☑ 選定自己的研究主題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☑ 用 CARE 框架寫出第一個 Prompt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☑ 與 AI 進行 3 輪對話，確認研究方向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☑ 三角驗證：AI 建議 × 文獻證據 × 導師意見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2：文獻調研 + API 驗證 + Obsidian（60 min）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68680"/>
            <a:ext cx="27889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68680"/>
            <a:ext cx="64008" cy="2103120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4183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種子 DOI + API 驗證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216152"/>
            <a:ext cx="260604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產出候選 DOI 清單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⊢ CrossRef API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DOI 存在性 + metadata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⊢ Semantic Scholar API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Abstract + 引用數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⊢ OpenAlex API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OA 狀態 + 機構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⊢ AI 語義比對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相關性 1-5 分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868680"/>
            <a:ext cx="27889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868680"/>
            <a:ext cx="64008" cy="210312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94183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批次匯入 Zotero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1216152"/>
            <a:ext cx="260604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種匯入方式：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Magic Wand（貼 DOI）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Connector（瀏覽器外掛）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BibTeX 匯入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pyzotero API（批次）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 → 驗證 → Zotero → BibTeX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868680"/>
            <a:ext cx="274320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72200" y="868680"/>
            <a:ext cx="64008" cy="2103120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94183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Obsidian 知識圖譜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09360" y="1216152"/>
            <a:ext cx="256032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文獻筆記卡格式：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YAML frontmatter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tags, doi, relevance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[[雙向連結]]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關聯文獻網絡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Graph View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節點=文獻、連線=引用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孤立節點 = 遺漏文獻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3200400"/>
            <a:ext cx="8686800" cy="1463040"/>
          </a:xfrm>
          <a:prstGeom prst="rect">
            <a:avLst/>
          </a:prstGeom>
          <a:solidFill>
            <a:srgbClr val="E8F4F2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24612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3A"/>
                </a:solidFill>
              </a:rPr>
              <a:t>☢ 關鍵警告：AI 產出的 DOI 不能直接信任！必須經 API 多重驗證才能使用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" y="361188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案例：43 篇引用全部經 CrossRef 驗證 → 發現 3 篇 DOI 錯誤、 2 篇年份不匹配 → 修正後入庫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現場 Demo：用 curl 呼叫 CrossRef API 驗證一個 DOI，對比 AI 給的 metadata 是否正確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2b：研究定位 + 期刊匹配 + 主編分析（90 min）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68680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68680"/>
            <a:ext cx="64008" cy="1828800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+ 創新性定位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216152"/>
            <a:ext cx="39776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文獻分類矩陣 → Gap 識別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literature-synthesis skill 示範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/analyze-literature command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創新性三層框架：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innovation-positioning skill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避免陷阱："Inspired by..." / "We improve..."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868680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868680"/>
            <a:ext cx="64008" cy="182880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期刊匹配 6 維度 + 主編分析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92040" y="1216152"/>
            <a:ext cx="39776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Scope 契合度 (35%)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Impact Factor (15%)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主編研究偏好 (20%)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近期收錄主題 (15%)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審稿週期 (10%)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OA/APC (5%)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主編分析：Google Scholar → 偏好方向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926080"/>
            <a:ext cx="8686800" cy="1737360"/>
          </a:xfrm>
          <a:prstGeom prst="rect">
            <a:avLst/>
          </a:prstGeom>
          <a:solidFill>
            <a:srgbClr val="E8F4F2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999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</a:rPr>
              <a:t>案例：10 期刊加權評分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3310128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Applied Energy (91) &gt; IEEE TII (89) &gt; Energy &amp; Buildings (87) &gt; SETA (82) &gt; ...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最終選擇 SETA 的原因：審稿週期短、接受率高、與研究主題契合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主編分析方法：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① 期刊官網 → Editorial Board → EIC + AE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② Google Scholar 查主編 5 年發表 → h-index + 研究關鍵詞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③ 分析 Editorial 內容 → 偏好方向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④ 近 2 年收錄文章標題 → AI topic clustering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實作與產出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68680"/>
            <a:ext cx="41605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68680"/>
            <a:ext cx="64008" cy="2743200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實作練習 1（30 min）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216152"/>
            <a:ext cx="397764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☑ 選定研究主題，用 CARE 寫 3 個 Prompt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☑ 用 AI 對話 5 輪確定研究方向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☑ 用 AI 產出 10 個種子 DOI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☑ 用 CrossRef API 驗證至少 3 個 DOI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☑ 建立 3 篇 Obsidian 文獻筆記卡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（含雙向連結）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☑ 建立 references.bib（至少 5 篇）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☑ （進階）Semantic Scholar API 取 Abstract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868680"/>
            <a:ext cx="41605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868680"/>
            <a:ext cx="64008" cy="2743200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產出成果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92040" y="1216152"/>
            <a:ext cx="3977640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明確的研究方向 + Research Gap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經 API 驗證的文獻清單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Obsidian 知識圖譜（Graph View）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references.bib 引用檔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期刊匹配初評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研究方向說明書（作業）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3840480"/>
            <a:ext cx="8686800" cy="868680"/>
          </a:xfrm>
          <a:prstGeom prst="rect">
            <a:avLst/>
          </a:prstGeom>
          <a:solidFill>
            <a:srgbClr val="E8F4F2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38862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3C5D"/>
                </a:solidFill>
              </a:rPr>
              <a:t>時間分配：講述 3.0h (37.5%) + Demo 1.5h (18.8%) + 實作 2.0h (25.0%) + 休息/Q&amp;A 1.5h (18.8%)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463040" cy="502920"/>
          </a:xfrm>
          <a:prstGeom prst="roundRect">
            <a:avLst>
              <a:gd name="adj" fmla="val 14545"/>
            </a:avLst>
          </a:prstGeom>
          <a:solidFill>
            <a:srgbClr val="0F9D8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C5D"/>
                </a:solidFill>
              </a:rPr>
              <a:t>L2D1 中階入門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從架構到投稿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論文撰寫、品質保證、投稿策略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30000"/>
            </a:srgbClr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3：論文架構 + 實驗規劃（85 min + 60 min）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68680"/>
            <a:ext cx="2788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68680"/>
            <a:ext cx="64008" cy="1828800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4183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IMRaD + QMD 架構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216152"/>
            <a:ext cx="26060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 背景→問題→目的→貢獲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M: 問題定義→架構→演算法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主結果→Ablation→統計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aD: 分析→邊界→限制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→ QMD（加 YAML 檔頭）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種期刊 YAML 配置範例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868680"/>
            <a:ext cx="2788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868680"/>
            <a:ext cx="64008" cy="182880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94183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+ 遠端 GPU 實驗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1216152"/>
            <a:ext cx="26060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工作流：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Python + Jupyter Extension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Quarto Extension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Remote-SSH→遠端 GPU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三層執行環境：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 | Colab (T4/A100) | 3090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868680"/>
            <a:ext cx="27432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72200" y="868680"/>
            <a:ext cx="64008" cy="1828800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94183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 Bot + Skill 驗證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09360" y="1216152"/>
            <a:ext cx="25603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 Bot 三層監控：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L1: 1min GPU / 5min 日誌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L2: 每15min 定期檢查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L3: 異常即時通知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/analyze-experiment 自動化：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data-validator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stats-validator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論文用報告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2926080"/>
            <a:ext cx="8686800" cy="1783080"/>
          </a:xfrm>
          <a:prstGeom prst="rect">
            <a:avLst/>
          </a:prstGeom>
          <a:solidFill>
            <a:srgbClr val="E8F4F2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999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</a:rPr>
              <a:t>統計驗證 + 可重現性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" y="3310128"/>
            <a:ext cx="8321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統計方法：Bootstrap CI / Mann-Whitney U / Cohen's d / Power Analysis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數據一致性三角檢查：Text ↔ Table ↔ Figure（figure-table-checker skill）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可重現性設計：seed=42 / YAML 參數檔 / NumpyEncoder / metric-audit skill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結果流：results/*.json → EXPERIMENT_RESULTS.md → paper.qmd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4：QMD 撰寫 + Claude Code 自動化（75+30 min）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68680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68680"/>
            <a:ext cx="64008" cy="1828800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論文撰寫 + 轉投策略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216152"/>
            <a:ext cx="39776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IMRaD 對應各章節撰寫策略：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Intro: 倒金字塔 + 貢獲聲明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Related Work: Obsidian 文獻矩陣 → 段落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Methods: 圖表先行、AI 生文字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Results: 數據表 → AI 統計分析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轉投策略：抓取目標期刊 100 篇標題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topic clustering → 調整 Title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修改 YAML format + CSL → quarto render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868680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868680"/>
            <a:ext cx="64008" cy="182880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SVG + Claude Code Demo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92040" y="1216152"/>
            <a:ext cx="39776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SVG 向量圖製作：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Python → SVG/PDF/PNG 三格式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Inkscape 後處理：SVG→PDF/EPS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QMD 引用：![](fig.pdf){#fig-label}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3 個 Demo：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/review-paper → 七維度報告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/analyze-experiment → 統計報告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/prepare-submission → Cover Letter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2926080"/>
            <a:ext cx="8686800" cy="1737360"/>
          </a:xfrm>
          <a:prstGeom prst="rect">
            <a:avLst/>
          </a:prstGeom>
          <a:solidFill>
            <a:srgbClr val="E8F4F2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</a:rPr>
              <a:t>實作練習 2（15 min）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3310128"/>
            <a:ext cx="8321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☑ 建立 QMD 論文骨架（含完整 YAML 檔頭）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☑ 設定 bibliography + csl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☑ 寫出 Abstract 初稿（200 字）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☑ 加入 3 個引用，quarto render 驗證格式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1A1A"/>
                </a:solidFill>
              </a:rPr>
              <a:t>☑ （進階）產出一張 SVG 圖並嵌入 QMD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5：品質審查 + 投稿策略（90 min）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68680"/>
            <a:ext cx="27889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68680"/>
            <a:ext cx="64008" cy="2103120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4183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審查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216152"/>
            <a:ext cx="260604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七維度評分框架：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結構完整性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方法論嚴謹性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實驗設計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數據可信度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寫作清晰度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引用完整性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創新貢獲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P0-P3 問題分級 + Skills 自動化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868680"/>
            <a:ext cx="278892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868680"/>
            <a:ext cx="64008" cy="2103120"/>
          </a:xfrm>
          <a:prstGeom prst="rect">
            <a:avLst/>
          </a:prstGeom>
          <a:solidFill>
            <a:srgbClr val="FFC857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94183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審查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1216152"/>
            <a:ext cx="260604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強項：結構/寫作流暢度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審查重點：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段落邏輯連貫性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論述流暢度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語法 + 可讀性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Passive voice 比例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Prompt 專案審查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868680"/>
            <a:ext cx="274320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72200" y="868680"/>
            <a:ext cx="64008" cy="2103120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94183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審查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09360" y="1216152"/>
            <a:ext cx="256032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強項：事實查核/長文檢索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審查重點：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引用事實核對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數據聲明驗證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最新文獻覆蓋檢查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Deep Research 深度檢索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三份報告合併 → 按 P0-P3 排序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28600" y="3200400"/>
            <a:ext cx="86868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</a:rPr>
              <a:t>投稿策略 + 10 項素材清單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" y="3547872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① 論文 PDF  ② .tex 源碼  ③ Cover Letter  ④ 高解析圖表（SVG/PDF/TIFF）  ⑤ Supplementary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⑥ CRediT  ⑦ Highlights  ⑧ Graphical Abstract  ⑨ Suggested Reviewers  ⑩ Data Availability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1A1A"/>
                </a:solidFill>
              </a:rPr>
              <a:t>submission-bundle skill + /prepare-submission command 一鍵檢查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實作與產出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68680"/>
            <a:ext cx="41605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68680"/>
            <a:ext cx="64008" cy="2286000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9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核心產出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216152"/>
            <a:ext cx="397764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完整 QMD 論文骨架（含 YAML 檔頭）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Abstract + 3 引用 + 格式驗證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SVG 向量圖（進階）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Claude Code 審查報告（七維度）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平行審查整合報告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research-workspace 部署完成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868680"/>
            <a:ext cx="41605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868680"/>
            <a:ext cx="64008" cy="228600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學員能帶走的系統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92040" y="1216152"/>
            <a:ext cx="397764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research-workspace.zip 包含：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24 Skills 專業知識庫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 Agents AI 專家團隊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 Commands 一鍵工作流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CLAUDE.md 客製化模板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QMD 論文模板（4 種期刊）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Obsidian Vault 範例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API 驗證腳本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TG Bot 設定指南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28600" y="3383280"/>
            <a:ext cx="8686800" cy="1325880"/>
          </a:xfrm>
          <a:prstGeom prst="rect">
            <a:avLst/>
          </a:prstGeom>
          <a:solidFill>
            <a:srgbClr val="E8F4F2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342900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3C5D"/>
                </a:solidFill>
              </a:rPr>
              <a:t>時間分配：講述 3.0h (35%) + Demo 2.0h (24%) + 實作 1.5h (18%) + 休息/Q&amp;A 2.0h (23%)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85876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9D8A"/>
                </a:solidFill>
              </a:rPr>
              <a:t>講述:Demo:實作 = 46%:27%:27%（兩天合計）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" y="42062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學習路徑：即刻行動（本週部署系統）→ 短期目標（1月完成初稿）→ 中期目標（3月投稿）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真實案例：NILM+LLM → SETA 投稿歷程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78408"/>
            <a:ext cx="256032" cy="256032"/>
          </a:xfrm>
          <a:prstGeom prst="ellipse">
            <a:avLst/>
          </a:prstGeom>
          <a:solidFill>
            <a:srgbClr val="0F9D8A"/>
          </a:solidFill>
          <a:ln/>
        </p:spPr>
      </p:sp>
      <p:sp>
        <p:nvSpPr>
          <p:cNvPr id="6" name="Shape 4"/>
          <p:cNvSpPr/>
          <p:nvPr/>
        </p:nvSpPr>
        <p:spPr>
          <a:xfrm>
            <a:off x="557784" y="1234440"/>
            <a:ext cx="54864" cy="320040"/>
          </a:xfrm>
          <a:prstGeom prst="rect">
            <a:avLst/>
          </a:prstGeom>
          <a:solidFill>
            <a:srgbClr val="5A6B7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9144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概念探索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16128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3 days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554480"/>
            <a:ext cx="256032" cy="256032"/>
          </a:xfrm>
          <a:prstGeom prst="ellipse">
            <a:avLst/>
          </a:prstGeom>
          <a:solidFill>
            <a:srgbClr val="134B6E"/>
          </a:solidFill>
          <a:ln/>
        </p:spPr>
      </p:sp>
      <p:sp>
        <p:nvSpPr>
          <p:cNvPr id="10" name="Shape 8"/>
          <p:cNvSpPr/>
          <p:nvPr/>
        </p:nvSpPr>
        <p:spPr>
          <a:xfrm>
            <a:off x="557784" y="1810512"/>
            <a:ext cx="54864" cy="320040"/>
          </a:xfrm>
          <a:prstGeom prst="rect">
            <a:avLst/>
          </a:prstGeom>
          <a:solidFill>
            <a:srgbClr val="5A6B7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4904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文獻調研（43 篇 DOI）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17373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5 days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130552"/>
            <a:ext cx="256032" cy="256032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14" name="Shape 12"/>
          <p:cNvSpPr/>
          <p:nvPr/>
        </p:nvSpPr>
        <p:spPr>
          <a:xfrm>
            <a:off x="557784" y="2386584"/>
            <a:ext cx="54864" cy="320040"/>
          </a:xfrm>
          <a:prstGeom prst="rect">
            <a:avLst/>
          </a:prstGeom>
          <a:solidFill>
            <a:srgbClr val="5A6B7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06654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IMRaD 架構 + 實驗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3134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10 days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706624"/>
            <a:ext cx="256032" cy="256032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18" name="Shape 16"/>
          <p:cNvSpPr/>
          <p:nvPr/>
        </p:nvSpPr>
        <p:spPr>
          <a:xfrm>
            <a:off x="557784" y="2962656"/>
            <a:ext cx="54864" cy="320040"/>
          </a:xfrm>
          <a:prstGeom prst="rect">
            <a:avLst/>
          </a:prstGeom>
          <a:solidFill>
            <a:srgbClr val="5A6B7A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264261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QMD 撰寫 + SVG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" y="2889504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7 days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282696"/>
            <a:ext cx="256032" cy="256032"/>
          </a:xfrm>
          <a:prstGeom prst="ellipse">
            <a:avLst/>
          </a:prstGeom>
          <a:solidFill>
            <a:srgbClr val="0F9D8A"/>
          </a:solidFill>
          <a:ln/>
        </p:spPr>
      </p:sp>
      <p:sp>
        <p:nvSpPr>
          <p:cNvPr id="22" name="Shape 20"/>
          <p:cNvSpPr/>
          <p:nvPr/>
        </p:nvSpPr>
        <p:spPr>
          <a:xfrm>
            <a:off x="557784" y="3538728"/>
            <a:ext cx="54864" cy="320040"/>
          </a:xfrm>
          <a:prstGeom prst="rect">
            <a:avLst/>
          </a:prstGeom>
          <a:solidFill>
            <a:srgbClr val="5A6B7A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32186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品質審查 + 修正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46557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5 days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858768"/>
            <a:ext cx="256032" cy="256032"/>
          </a:xfrm>
          <a:prstGeom prst="ellipse">
            <a:avLst/>
          </a:prstGeom>
          <a:solidFill>
            <a:srgbClr val="FFC857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794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SETA 投稿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4400" y="404164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A"/>
                </a:solidFill>
              </a:rPr>
              <a:t>2 days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0" y="868680"/>
            <a:ext cx="43434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0" y="868680"/>
            <a:ext cx="64008" cy="338328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30" name="Text 28"/>
          <p:cNvSpPr/>
          <p:nvPr/>
        </p:nvSpPr>
        <p:spPr>
          <a:xfrm>
            <a:off x="4709160" y="94183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關鍵數據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09160" y="1216152"/>
            <a:ext cx="4160520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總耗時：~32 天（傳統方式需 4-6 個月）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參與度：65-70%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文獻：43 篇 DOI，全部 API 驗證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實驗：3 個數據集，F1 = 0.8488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審查：七維度評分 + P0-P3 分級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統計：Bootstrap CI + Cohen's d + Power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工具：24 Skills + 8 Agents + 5 Commands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格式：QMD → Elsevier PDF + .tex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核心差異化：為什麼選擇這個工作坊？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868680"/>
            <a:ext cx="86868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68680"/>
            <a:ext cx="73152" cy="658368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969264"/>
            <a:ext cx="457200" cy="457200"/>
          </a:xfrm>
          <a:prstGeom prst="ellipse">
            <a:avLst/>
          </a:prstGeom>
          <a:solidFill>
            <a:srgbClr val="0F9D8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969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9144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端到端完整流程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120700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A"/>
                </a:solidFill>
              </a:rPr>
              <a:t>11 Phase 從概念到投稿，非單點教學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8600" y="1645920"/>
            <a:ext cx="86868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8600" y="1645920"/>
            <a:ext cx="73152" cy="65836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1746504"/>
            <a:ext cx="457200" cy="457200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97280" y="1691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真實案例驗證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198424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A"/>
                </a:solidFill>
              </a:rPr>
              <a:t>NILM+LLM 論文完整歷程，非虛構範例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8600" y="2423160"/>
            <a:ext cx="86868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28600" y="2423160"/>
            <a:ext cx="73152" cy="658368"/>
          </a:xfrm>
          <a:prstGeom prst="rect">
            <a:avLst/>
          </a:prstGeom>
          <a:solidFill>
            <a:srgbClr val="0B3C5D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2523744"/>
            <a:ext cx="457200" cy="457200"/>
          </a:xfrm>
          <a:prstGeom prst="ellipse">
            <a:avLst/>
          </a:prstGeom>
          <a:solidFill>
            <a:srgbClr val="0B3C5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523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97280" y="2468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文獻正確性保證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97280" y="276148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A"/>
                </a:solidFill>
              </a:rPr>
              <a:t>CrossRef/SS/OA 多重 API 驗證，非盲信 AI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8600" y="3200400"/>
            <a:ext cx="86868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28600" y="3200400"/>
            <a:ext cx="73152" cy="658368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3300984"/>
            <a:ext cx="457200" cy="457200"/>
          </a:xfrm>
          <a:prstGeom prst="ellipse">
            <a:avLst/>
          </a:prstGeom>
          <a:solidFill>
            <a:srgbClr val="0F9D8A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300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97280" y="3246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三 AI 平行審查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97280" y="353872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A"/>
                </a:solidFill>
              </a:rPr>
              <a:t>Claude×ChatGPT×Gemini 交叉檢查，非單一工具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28600" y="3977640"/>
            <a:ext cx="86868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28600" y="3977640"/>
            <a:ext cx="73152" cy="658368"/>
          </a:xfrm>
          <a:prstGeom prst="rect">
            <a:avLst/>
          </a:prstGeom>
          <a:solidFill>
            <a:srgbClr val="FFC857"/>
          </a:solidFill>
          <a:ln/>
        </p:spPr>
      </p:sp>
      <p:sp>
        <p:nvSpPr>
          <p:cNvPr id="31" name="Shape 29"/>
          <p:cNvSpPr/>
          <p:nvPr/>
        </p:nvSpPr>
        <p:spPr>
          <a:xfrm>
            <a:off x="457200" y="4078224"/>
            <a:ext cx="457200" cy="457200"/>
          </a:xfrm>
          <a:prstGeom prst="ellipse">
            <a:avLst/>
          </a:prstGeom>
          <a:solidFill>
            <a:srgbClr val="FFC857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97280" y="4023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可帶走的系統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97280" y="431596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A"/>
                </a:solidFill>
              </a:rPr>
              <a:t>research-workspace.zip 完整部署，非純知識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C8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"/>
            <a:ext cx="109728" cy="5070348"/>
          </a:xfrm>
          <a:prstGeom prst="rect">
            <a:avLst/>
          </a:prstGeom>
          <a:solidFill>
            <a:srgbClr val="0F9D8A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0" y="1828800"/>
            <a:ext cx="3200400" cy="3200400"/>
          </a:xfrm>
          <a:prstGeom prst="ellipse">
            <a:avLst/>
          </a:prstGeom>
          <a:solidFill>
            <a:srgbClr val="0F9D8A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132320" y="2560320"/>
            <a:ext cx="2286000" cy="2286000"/>
          </a:xfrm>
          <a:prstGeom prst="ellipse">
            <a:avLst/>
          </a:prstGeom>
          <a:solidFill>
            <a:srgbClr val="FFC857">
              <a:alpha val="1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914400"/>
            <a:ext cx="6858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開始你的</a:t>
            </a:r>
            <a:endParaRPr lang="en-US" sz="4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研究之旅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365760" y="283464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C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從概念到投稿，AI 是你的研究團隊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9D8A">
              <a:alpha val="4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4754880"/>
            <a:ext cx="84124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Smart Manufacturing Research Lab  |  alan.chen75@gmail.com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學術研究全流程工作坊 2026</dc:title>
  <dc:subject>PptxGenJS Presentation</dc:subject>
  <dc:creator>Alan Chen</dc:creator>
  <cp:lastModifiedBy>Alan Chen</cp:lastModifiedBy>
  <cp:revision>1</cp:revision>
  <dcterms:created xsi:type="dcterms:W3CDTF">2026-03-07T03:07:12Z</dcterms:created>
  <dcterms:modified xsi:type="dcterms:W3CDTF">2026-03-07T03:07:12Z</dcterms:modified>
</cp:coreProperties>
</file>