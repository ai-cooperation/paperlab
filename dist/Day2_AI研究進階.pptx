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F9D8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457200"/>
            <a:ext cx="2286000" cy="2286000"/>
          </a:xfrm>
          <a:prstGeom prst="ellipse">
            <a:avLst/>
          </a:prstGeom>
          <a:solidFill>
            <a:srgbClr val="FFC857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64008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0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Paper Workshop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AI 研究進階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從架構到投稿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C857"/>
                </a:solidFill>
              </a:rPr>
              <a:t>8 個 AI 專家 Agent 各司其職，走完論文全流程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0F9D8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Day 2  L2D1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365760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E6A820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36576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 Agents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365760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0A7A6B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36576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 Commands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657600"/>
            <a:ext cx="1280160" cy="310896"/>
          </a:xfrm>
          <a:prstGeom prst="roundRect">
            <a:avLst>
              <a:gd name="adj" fmla="val 17647"/>
            </a:avLst>
          </a:prstGeom>
          <a:solidFill>
            <a:srgbClr val="134B6E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6576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24 Skills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754880"/>
            <a:ext cx="4572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Smart Manufacturing Research Application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4754880"/>
            <a:ext cx="42062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cooperation.tw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從「AI 助教」到「AI 研究團隊」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3840480" cy="411480"/>
          </a:xfrm>
          <a:prstGeom prst="rect">
            <a:avLst/>
          </a:prstGeom>
          <a:solidFill>
            <a:srgbClr val="5A6B7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22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Day 1：你 + 1 個 AI 助教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Claude Chat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對話式互動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一對一 Prompt 交流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手動驗證結果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C857"/>
                </a:solidFill>
              </a:rPr>
              <a:t>➡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Day 2：你 + 8 個專家 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Claude Code + Skills 系統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自動化工作流程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Agent 各司其職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Skill 驅動品質保證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987552" cy="1371600"/>
          </a:xfrm>
          <a:prstGeom prst="roundRect">
            <a:avLst>
              <a:gd name="adj" fmla="val 5556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182112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research-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orchestrator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74320" y="3977640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F0EB"/>
                </a:solidFill>
              </a:rPr>
              <a:t>工作流協調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371600" y="3108960"/>
            <a:ext cx="987552" cy="1371600"/>
          </a:xfrm>
          <a:prstGeom prst="roundRect">
            <a:avLst>
              <a:gd name="adj" fmla="val 5556"/>
            </a:avLst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3182112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literature-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71600" y="3977640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F0EB"/>
                </a:solidFill>
              </a:rPr>
              <a:t>文獻分析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68880" y="3108960"/>
            <a:ext cx="987552" cy="1371600"/>
          </a:xfrm>
          <a:prstGeom prst="roundRect">
            <a:avLst>
              <a:gd name="adj" fmla="val 5556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68880" y="3182112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paper-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writer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468880" y="3977640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F0EB"/>
                </a:solidFill>
              </a:rPr>
              <a:t>論文撰寫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66160" y="3108960"/>
            <a:ext cx="987552" cy="1371600"/>
          </a:xfrm>
          <a:prstGeom prst="roundRect">
            <a:avLst>
              <a:gd name="adj" fmla="val 5556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66160" y="3182112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citation-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checker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566160" y="3977640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F0EB"/>
                </a:solidFill>
              </a:rPr>
              <a:t>引用驗證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3108960"/>
            <a:ext cx="987552" cy="1371600"/>
          </a:xfrm>
          <a:prstGeom prst="roundRect">
            <a:avLst>
              <a:gd name="adj" fmla="val 5556"/>
            </a:avLst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3182112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paper-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reviewer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63440" y="3977640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F0EB"/>
                </a:solidFill>
              </a:rPr>
              <a:t>論文審查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760720" y="3108960"/>
            <a:ext cx="987552" cy="1371600"/>
          </a:xfrm>
          <a:prstGeom prst="roundRect">
            <a:avLst>
              <a:gd name="adj" fmla="val 5556"/>
            </a:avLst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60720" y="3182112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data-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validator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60720" y="3977640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F0EB"/>
                </a:solidFill>
              </a:rPr>
              <a:t>數據驗證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58000" y="3108960"/>
            <a:ext cx="987552" cy="1371600"/>
          </a:xfrm>
          <a:prstGeom prst="roundRect">
            <a:avLst>
              <a:gd name="adj" fmla="val 5556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58000" y="3182112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stats-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validator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0" y="3977640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F0EB"/>
                </a:solidFill>
              </a:rPr>
              <a:t>統計分析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955280" y="3108960"/>
            <a:ext cx="987552" cy="1371600"/>
          </a:xfrm>
          <a:prstGeom prst="roundRect">
            <a:avLst>
              <a:gd name="adj" fmla="val 5556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955280" y="3182112"/>
            <a:ext cx="987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submission-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</a:rPr>
              <a:t>helper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955280" y="3977640"/>
            <a:ext cx="987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F0EB"/>
                </a:solidFill>
              </a:rPr>
              <a:t>投稿準備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 Commands：一鍵啟動 AI 工作流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1645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645920" cy="64008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41248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/review-paper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554480"/>
            <a:ext cx="149961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論文全面審查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citation-checker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→ data-validator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→ paper-reviewer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→ 七維度評分 + P0-P3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48256" y="822960"/>
            <a:ext cx="1645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48256" y="822960"/>
            <a:ext cx="1645920" cy="64008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2048256" y="841248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/analyze-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21408" y="1554480"/>
            <a:ext cx="149961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文獻分析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literature-researcher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→ Gap 分析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→ Related Work 建議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22192" y="822960"/>
            <a:ext cx="1645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22192" y="822960"/>
            <a:ext cx="1645920" cy="640080"/>
          </a:xfrm>
          <a:prstGeom prst="rect">
            <a:avLst/>
          </a:prstGeom>
          <a:solidFill>
            <a:srgbClr val="0A7A6B"/>
          </a:solidFill>
          <a:ln/>
        </p:spPr>
      </p:sp>
      <p:sp>
        <p:nvSpPr>
          <p:cNvPr id="15" name="Text 13"/>
          <p:cNvSpPr/>
          <p:nvPr/>
        </p:nvSpPr>
        <p:spPr>
          <a:xfrm>
            <a:off x="3822192" y="841248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/analyze-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95344" y="1554480"/>
            <a:ext cx="149961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實驗分析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data-validator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→ stats-validator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→ 統計分析報告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96128" y="822960"/>
            <a:ext cx="1645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96128" y="822960"/>
            <a:ext cx="1645920" cy="64008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9" name="Text 17"/>
          <p:cNvSpPr/>
          <p:nvPr/>
        </p:nvSpPr>
        <p:spPr>
          <a:xfrm>
            <a:off x="5596128" y="841248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/prepare-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1554480"/>
            <a:ext cx="149961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投稿準備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paper-reviewer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→ submission-helper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→ Cover Letter 草稿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70064" y="822960"/>
            <a:ext cx="1645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70064" y="822960"/>
            <a:ext cx="1645920" cy="640080"/>
          </a:xfrm>
          <a:prstGeom prst="rect">
            <a:avLst/>
          </a:prstGeom>
          <a:solidFill>
            <a:srgbClr val="134B6E"/>
          </a:solidFill>
          <a:ln/>
        </p:spPr>
      </p:sp>
      <p:sp>
        <p:nvSpPr>
          <p:cNvPr id="23" name="Text 21"/>
          <p:cNvSpPr/>
          <p:nvPr/>
        </p:nvSpPr>
        <p:spPr>
          <a:xfrm>
            <a:off x="7370064" y="841248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/respond-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C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43216" y="1554480"/>
            <a:ext cx="149961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審稿回覆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submission-helper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→ rebuttal-matrix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→ 回覆信草稿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2976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429768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一行指令，多個 Agent 協作 — 例如 /review-paper 自動調用 3 個 Agent 完成完整審查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CLAUDE.md：AI 的工作手冊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8595360" cy="457200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3C5D"/>
                </a:solidFill>
              </a:rPr>
              <a:t>概念：SOP 文件，讓 AI 嚴格遵守你的規則 — 每個專案一份，定義 AI 的「做事方式」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63040"/>
            <a:ext cx="64008" cy="2103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3619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引用處理原則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810512"/>
            <a:ext cx="18105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最高優先級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只用 .bib 中的引用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絕不自行添加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發現問題指出不修改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146304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463040"/>
            <a:ext cx="64008" cy="210312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53619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</a:rPr>
              <a:t>檔案操作原則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1810512"/>
            <a:ext cx="18105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不刪除原始數據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不覆蓋既有檔案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使用版本號區分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產出放指定目錄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463040"/>
            <a:ext cx="64008" cy="21031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53619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驗證原則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810512"/>
            <a:ext cx="18105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寫入後必須驗證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不信任工具返回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提供證據才能說完成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承認失敗即時修正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0" y="146304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463040"/>
            <a:ext cx="64008" cy="210312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153619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專案結構定義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1810512"/>
            <a:ext cx="181051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01_literature/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02_research/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03_manuscripts/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05_outputs/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749040"/>
            <a:ext cx="859536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3803904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CLAUDE.md 核心片段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4059936"/>
            <a:ext cx="8375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引用處理原則（最高優先級）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**只使用** references.bib 中存在的引用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**絕不** 自行推測或添加新引用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修改段落時，**保留** 原有引用不變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主編分析方法：被忽略的投稿關鍵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68680"/>
            <a:ext cx="1627632" cy="2377440"/>
          </a:xfrm>
          <a:prstGeom prst="rect">
            <a:avLst/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9D8A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83464" y="17373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Editorial 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14884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期刊官網找到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EIC + Associate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Editors 名單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65376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93392" y="868680"/>
            <a:ext cx="1627632" cy="2377440"/>
          </a:xfrm>
          <a:prstGeom prst="rect">
            <a:avLst/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48256" y="17373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Scholar 搜尋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66544" y="214884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Google Scholar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查主編近 5 年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發表 + h-index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30168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58184" y="868680"/>
            <a:ext cx="1627632" cy="2377440"/>
          </a:xfrm>
          <a:prstGeom prst="rect">
            <a:avLst/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51960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7A6B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13048" y="17373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Editorial 分析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31336" y="214884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閱讀 Editorial /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Guest Editorial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了解偏好方向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22976" y="868680"/>
            <a:ext cx="1627632" cy="2377440"/>
          </a:xfrm>
          <a:prstGeom prst="rect">
            <a:avLst/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16752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016752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A820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77840" y="17373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Topic Clustering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96128" y="214884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近 2 年收錄文章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標題 AI 聚類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找熱門主題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59752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87768" y="868680"/>
            <a:ext cx="1627632" cy="2377440"/>
          </a:xfrm>
          <a:prstGeom prst="rect">
            <a:avLst/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81544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81544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4B6E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42632" y="17373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時機判斷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60920" y="214884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新主編=更開放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Special Issue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= 高契合度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566160"/>
            <a:ext cx="64008" cy="109728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6393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為什麼主編分析很重要？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1480" y="3913632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主編任期 3 年，直接影響收錄方向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決定 desk-reject 還是送審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影響審稿人選擇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主編偏好 = 期刊近期趨勢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35661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566160"/>
            <a:ext cx="64008" cy="109728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63931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journal-fit Skill 支援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00600" y="3913632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自動分析期刊 Scope + 主編背景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6 維度加權評分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Desk-reject 風險評估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案例：10 期刊 → 選定 SETA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9D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Session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論文架構設計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與實驗規劃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Phase 4-5 | IMRaD 架構 + QMD/YAML + IDE + 遠端 GPU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IMRaD 標準論文架構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68680"/>
            <a:ext cx="822960" cy="8229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D8A"/>
                </a:solidFill>
              </a:rPr>
              <a:t>Introduction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48840"/>
            <a:ext cx="201168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背景 → 問題 → 目的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貢獻聲明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（漏斗式結構）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17520" y="868680"/>
            <a:ext cx="822960" cy="822960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5D"/>
                </a:solidFill>
              </a:rPr>
              <a:t>Methods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214884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2148840"/>
            <a:ext cx="2011680" cy="54864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問題定義 → 系統架構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演算法 → 物理約束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（可重現）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12080" y="868680"/>
            <a:ext cx="822960" cy="822960"/>
          </a:xfrm>
          <a:prstGeom prst="ellipse">
            <a:avLst/>
          </a:prstGeom>
          <a:solidFill>
            <a:srgbClr val="0A7A6B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6344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A6B"/>
                </a:solidFill>
              </a:rPr>
              <a:t>Results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14884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148840"/>
            <a:ext cx="2011680" cy="54864"/>
          </a:xfrm>
          <a:prstGeom prst="rect">
            <a:avLst/>
          </a:prstGeom>
          <a:solidFill>
            <a:srgbClr val="0A7A6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設置 → 主結果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Ablation → 統計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錯誤分析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06640" y="868680"/>
            <a:ext cx="822960" cy="822960"/>
          </a:xfrm>
          <a:prstGeom prst="ellipse">
            <a:avLst/>
          </a:prstGeom>
          <a:solidFill>
            <a:srgbClr val="E6A820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aD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5800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A820"/>
                </a:solidFill>
              </a:rPr>
              <a:t>Discussion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0" y="214884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2148840"/>
            <a:ext cx="2011680" cy="54864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分析 → 邊界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限制 → 未來方向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（誠實坦承）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74904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49040"/>
            <a:ext cx="64008" cy="9144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8221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evidence-indexer Skill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" y="4096512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追溯鏈：Claim → Table/Figure → 數據源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確保每個聲明都有實驗證據支撐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74904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749040"/>
            <a:ext cx="64008" cy="9144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382219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案例：NILM 論文配置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4096512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5 張圖 + 11 張表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圖：框架圖、F1 對比、Heatmap、收斂、案例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表：數據集、結果、ablation、統計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從 Markdown 到 QMD：無痛轉換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393192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7782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Markdown 初稿 (.md)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33856"/>
            <a:ext cx="371246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Introduction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Non-intrusive load monitoring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(NILM) is a critical technique...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Related Work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Kelly &amp; Knottenbelt (2015)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proposed neural NILM...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51960" y="1554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857"/>
                </a:solidFill>
              </a:rPr>
              <a:t>+  YAML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C857"/>
                </a:solidFill>
              </a:rPr>
              <a:t>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8778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Quarto 文件 (.qmd)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64608" y="1133856"/>
            <a:ext cx="389534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"Training-Free NILM"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bibliography: references.bib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elsevier-pdf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Introduction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Non-intrusive load monitoring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(NILM) is a critical ...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[@kelly2015; @chen2026nilm]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63240"/>
            <a:ext cx="64008" cy="100584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136392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轉換成本：5 分鐘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410712"/>
            <a:ext cx="3730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1. 在頂部加 YAML 檔頭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2. 引用改成 @citekey 格式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3. 圖表加上 {#fig-label}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4. 完成！quarto render → PDF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63240"/>
            <a:ext cx="64008" cy="100584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1363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A820"/>
                </a:solidFill>
              </a:rPr>
              <a:t>效果差異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41071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Markdown → 純文字（無法排版）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QMD → 期刊格式 PDF + TeX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同一份原始碼，多種輸出格式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5 秒內得到完整排版論文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25196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42519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為什麼先 MD 再 QMD？— MD 寫作門檻低（人人會）→ 加 YAML 即為 QMD → quarto render → PDF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YAML 檔頭詳解：期刊格式的靈魂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572000" cy="31089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77824"/>
            <a:ext cx="4352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SETA / Elsevier 完整 YAML 配置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33856"/>
            <a:ext cx="435254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"Training-Free Industrial NILM"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Chung-Kuang Chen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affiliations: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NTUST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department: GIMT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abstract: |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 paper proposes a training-free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industrial NILM framework...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bibliography: references.bib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csl: elsevier-vancouver-author-date.csl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elsevier-pdf: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keep-tex: true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journal: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"Sustainable Energy..."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cite-style: authoryear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classoption: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[authoryear, preprint, 12pt]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geometry: [margin=3cm, a4paper]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120640" y="822960"/>
            <a:ext cx="1097280" cy="347472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8229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期刊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217920" y="822960"/>
            <a:ext cx="914400" cy="347472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8229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format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132320" y="822960"/>
            <a:ext cx="914400" cy="347472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8229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classoption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46720" y="822960"/>
            <a:ext cx="1005840" cy="347472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8229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CSL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20640" y="1207008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2070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Elsevier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207008"/>
            <a:ext cx="914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2070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elsevier-pdf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32320" y="1207008"/>
            <a:ext cx="914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2070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authoryear, preprint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046720" y="1207008"/>
            <a:ext cx="1005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12070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elsevier-vancouver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1591056"/>
            <a:ext cx="1097280" cy="347472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159105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IEEE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17920" y="1591056"/>
            <a:ext cx="914400" cy="347472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59105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ieee-pdf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32320" y="1591056"/>
            <a:ext cx="914400" cy="347472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159105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journal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46720" y="1591056"/>
            <a:ext cx="1005840" cy="347472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0" y="159105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ieee.csl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20640" y="1975104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197510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Springer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0" y="1975104"/>
            <a:ext cx="914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197510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springer-pdf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132320" y="1975104"/>
            <a:ext cx="914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0" y="197510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046720" y="1975104"/>
            <a:ext cx="10058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046720" y="197510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springer-basic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20640" y="2359152"/>
            <a:ext cx="1097280" cy="347472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0" y="23591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MDPI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17920" y="2359152"/>
            <a:ext cx="914400" cy="347472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43" name="Text 41"/>
          <p:cNvSpPr/>
          <p:nvPr/>
        </p:nvSpPr>
        <p:spPr>
          <a:xfrm>
            <a:off x="6217920" y="23591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mdpi-pdf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132320" y="2359152"/>
            <a:ext cx="914400" cy="347472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45" name="Text 43"/>
          <p:cNvSpPr/>
          <p:nvPr/>
        </p:nvSpPr>
        <p:spPr>
          <a:xfrm>
            <a:off x="7132320" y="23591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—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046720" y="2359152"/>
            <a:ext cx="1005840" cy="347472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47" name="Text 45"/>
          <p:cNvSpPr/>
          <p:nvPr/>
        </p:nvSpPr>
        <p:spPr>
          <a:xfrm>
            <a:off x="8046720" y="235915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</a:rPr>
              <a:t>mdpi.csl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120640" y="2834640"/>
            <a:ext cx="3749040" cy="5943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230368" y="2907792"/>
            <a:ext cx="35295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quarto render paper.qmd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paper.pdf + paper.tex (keep-tex)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16052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51" name="Text 49"/>
          <p:cNvSpPr/>
          <p:nvPr/>
        </p:nvSpPr>
        <p:spPr>
          <a:xfrm>
            <a:off x="384048" y="416052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轉投策略：只改 YAML format + CSL → quarto render → 立刻得到新期刊格式的 PDF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輔助實驗設計 + 三層執行環境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1325880" cy="1280160"/>
          </a:xfrm>
          <a:prstGeom prst="roundRect">
            <a:avLst>
              <a:gd name="adj" fmla="val 4286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研究假設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" y="1207008"/>
            <a:ext cx="1216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清晰可驗證的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Null/Alt hypothesis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19072" y="822960"/>
            <a:ext cx="1325880" cy="1280160"/>
          </a:xfrm>
          <a:prstGeom prst="roundRect">
            <a:avLst>
              <a:gd name="adj" fmla="val 4286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19072" y="8686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變數設計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73936" y="1207008"/>
            <a:ext cx="1216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獨立/依變/控制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變數明確定義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63824" y="822960"/>
            <a:ext cx="1325880" cy="1280160"/>
          </a:xfrm>
          <a:prstGeom prst="roundRect">
            <a:avLst>
              <a:gd name="adj" fmla="val 4286"/>
            </a:avLst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63824" y="8686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數據方案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18688" y="1207008"/>
            <a:ext cx="1216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數據集選擇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分割策略 (train/test)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822960"/>
            <a:ext cx="1325880" cy="1280160"/>
          </a:xfrm>
          <a:prstGeom prst="roundRect">
            <a:avLst>
              <a:gd name="adj" fmla="val 4286"/>
            </a:avLst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08576" y="8686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評估指標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207008"/>
            <a:ext cx="1216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F1/Accuracy/MCC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統計顯著性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53328" y="822960"/>
            <a:ext cx="1325880" cy="1280160"/>
          </a:xfrm>
          <a:prstGeom prst="roundRect">
            <a:avLst>
              <a:gd name="adj" fmla="val 4286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53328" y="8686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Ablation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08192" y="1207008"/>
            <a:ext cx="1216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逐一移除模組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驗證每部分貢獻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98080" y="822960"/>
            <a:ext cx="1325880" cy="1280160"/>
          </a:xfrm>
          <a:prstGeom prst="roundRect">
            <a:avLst>
              <a:gd name="adj" fmla="val 4286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8686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可重現性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52944" y="1207008"/>
            <a:ext cx="1216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seed=42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參數配置文件化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377440"/>
            <a:ext cx="1920240" cy="329184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3774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環境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94560" y="2377440"/>
            <a:ext cx="1920240" cy="329184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26" name="Text 24"/>
          <p:cNvSpPr/>
          <p:nvPr/>
        </p:nvSpPr>
        <p:spPr>
          <a:xfrm>
            <a:off x="2194560" y="23774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GPU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0" y="2377440"/>
            <a:ext cx="2286000" cy="329184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0" y="23774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用途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2377440"/>
            <a:ext cx="2468880" cy="329184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23774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費用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2743200"/>
            <a:ext cx="19202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27432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本地 MacBook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94560" y="2743200"/>
            <a:ext cx="19202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194560" y="27432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無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0" y="2743200"/>
            <a:ext cx="22860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0" y="27432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開發/調試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2743200"/>
            <a:ext cx="24688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2743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免費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108960"/>
            <a:ext cx="1920240" cy="329184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31089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Google Colab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194560" y="3108960"/>
            <a:ext cx="1920240" cy="329184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42" name="Text 40"/>
          <p:cNvSpPr/>
          <p:nvPr/>
        </p:nvSpPr>
        <p:spPr>
          <a:xfrm>
            <a:off x="2194560" y="31089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T4/A100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14800" y="3108960"/>
            <a:ext cx="2286000" cy="329184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0" y="31089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原型驗證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0" y="3108960"/>
            <a:ext cx="2468880" cy="329184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31089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免費~$10/月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3474720"/>
            <a:ext cx="19202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34747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遠端 3090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194560" y="3474720"/>
            <a:ext cx="19202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2194560" y="34747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RTX 3090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114800" y="3474720"/>
            <a:ext cx="22860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114800" y="34747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完整實驗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0" y="3474720"/>
            <a:ext cx="24688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0" y="34747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電費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388620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56" name="Text 54"/>
          <p:cNvSpPr/>
          <p:nvPr/>
        </p:nvSpPr>
        <p:spPr>
          <a:xfrm>
            <a:off x="384048" y="388620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experiment-tracker + protocol-enforcer + ablation-min-proof — 三個 Skill 覆蓋實驗全流程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VS Code 配置：Python + Jupyter + Quarto + Remote-SSH + Claude Code CLI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Colab + 遠端 3090 實戰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778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Google Colab 快速上手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33856"/>
            <a:ext cx="38953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掛載 Google Drive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google.colab import drive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drive.mount("/content/drive")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安裝套件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torch transformers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載入數據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pd.read_csv("/content/drive/",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"MyDrive/data/exp.csv")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1148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87782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遠端 3090 標準流程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64608" y="1133856"/>
            <a:ext cx="38953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SSH 連線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ac-3090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初始化環境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~/miniconda3/etc/profile.d/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conda.sh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gpu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持久化執行 + 無緩衝輸出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PYTHONUNBUFFERED=1 nohup python \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-u train.py &gt; exp.log 2&gt;&amp;1 &amp;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859536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2834640"/>
            <a:ext cx="73152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1 分鐘內必須確認：nvidia-smi → GPU 使用率 &gt; 60%，記憶體 &gt; 1GB — 否則立即停止檢查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27432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5661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GPU &lt; 10%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356616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模型在 CPU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356616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檢查 .to(device)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913632"/>
            <a:ext cx="2743200" cy="310896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91363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GPU 20-40%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39136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DataLoader 瓶頸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391363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增加 num_workers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261104"/>
            <a:ext cx="27432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26110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GPU 40-60%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80160" y="426110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Batch 太小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426110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D8A"/>
                </a:solidFill>
              </a:rPr>
              <a:t>增大 batch_size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520440"/>
            <a:ext cx="56692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520440"/>
            <a:ext cx="64008" cy="11887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3593592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gpu-monitor Skill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3867912"/>
            <a:ext cx="5468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觸發詞：「GPU 監控」「遠端執行」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自動檢查 GPU 狀態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處理遠端 Conda 環境配置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確保 CUDA 正確掛載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異常自動通知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Telegram Bot 實驗監控：三層系統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5029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22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Level 1 即時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822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C857"/>
                </a:solidFill>
              </a:rPr>
              <a:t>前 5 分鐘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 分鐘：檢查 GPU 使用率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5 分鐘：檢查日誌輸出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確認實驗正常啟動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743200" cy="50292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822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Level 2 定期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822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C857"/>
                </a:solidFill>
              </a:rPr>
              <a:t>每 15 分鐘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4630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檢查進程是否存在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檢查 GPU 使用率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檢查日誌更新時間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82296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22960"/>
            <a:ext cx="274320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822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Level 3 異常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0" y="822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C857"/>
                </a:solidFill>
              </a:rPr>
              <a:t>即時觸發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14630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進程消失 → 立即通知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日誌 10min 未更新 → 警告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錯誤訊息 → 即時通知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57600"/>
            <a:ext cx="64008" cy="100584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73075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Telegram Bot 指令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00507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/check  → GPU + CPU + 記憶體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/all    → 完整效能報告 (含溫度)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/log    → 最近 50 行實驗日誌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65760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657600"/>
            <a:ext cx="64008" cy="100584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73075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A820"/>
                </a:solidFill>
              </a:rPr>
              <a:t>自動通知範例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4005072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實驗 OOM → 手機收到：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「GPU 記憶體不足！建議：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減小 batch_size 或啟用 gradient checkpointing」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數據彙整策略 + 可重現性設計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201168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可重現性 4 要素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39136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1. 隨機種子固定：seed=42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 所有隨機操作用同一 seed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2. 參數配置文件化：config.yaml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 lr, batch_size, epochs 全記錄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3. 結果 JSON 可序列化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 NumpyEncoder 處理 numpy 型別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4. metric-audit Skill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 確保指標定義跨實驗一致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64008" cy="201168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9611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結果 → 論文的數字流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170432"/>
            <a:ext cx="40050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實驗執行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↓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results/*.json ← 原始數據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↓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EXPERIMENT_RESULTS.md ← 唯一真相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↓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paper.qmd ← 手動提取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↓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grep '(舊數字)' → 驗證一致性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3291840"/>
            <a:ext cx="1371600" cy="54864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7A"/>
                </a:solidFill>
              </a:rPr>
              <a:t>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14800" y="3291840"/>
            <a:ext cx="1371600" cy="548640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7A"/>
                </a:solidFill>
              </a:rPr>
              <a:t>↔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0" y="3291840"/>
            <a:ext cx="1371600" cy="548640"/>
          </a:xfrm>
          <a:prstGeom prst="ellipse">
            <a:avLst/>
          </a:prstGeom>
          <a:solidFill>
            <a:srgbClr val="E6A82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Figure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3977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數據一致性三角驗證：Text ↔ Table ↔ Figure — figure-table-checker + evidence-indexer Skill 自動掃描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43484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443484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案例：發現 F1=0.820 (文字) vs 0.8488 (表格) 不一致 → P0 問題 → 修正前不能投稿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9D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Session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QMD + BibTeX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論文撰寫系統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Phase 8 | 論文撰寫 + 轉投策略 + SVG 向量圖 + 統計驗證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BibTeX 引用管理 (進階)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68680"/>
            <a:ext cx="2068830" cy="2377440"/>
          </a:xfrm>
          <a:prstGeom prst="rect">
            <a:avLst/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2975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42975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9D8A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83464" y="17373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DOI 輸入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1488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已驗證的 DOI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來自 Day 1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CrossRef 確認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06574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34590" y="868680"/>
            <a:ext cx="2068830" cy="2377440"/>
          </a:xfrm>
          <a:prstGeom prst="rect">
            <a:avLst/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48965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148965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89454" y="17373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BibTeX 生成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07742" y="21488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CrossRef API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自動產出格式化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BibTeX 條目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12564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0580" y="868680"/>
            <a:ext cx="2068830" cy="2377440"/>
          </a:xfrm>
          <a:prstGeom prst="rect">
            <a:avLst/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54955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354955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7A6B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95444" y="17373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品質檢查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13732" y="21488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bib-manager Skill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重複偵測 + 格式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+ 幽靈引用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18554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46570" y="868680"/>
            <a:ext cx="2068830" cy="2377440"/>
          </a:xfrm>
          <a:prstGeom prst="rect">
            <a:avLst/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60945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560945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A820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1434" y="17373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論文引用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19722" y="21488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@citekey 格式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quarto render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自動排版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520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520440"/>
            <a:ext cx="64008" cy="11887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5935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bib-manager + citation-checker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3867912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雙重防呆：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bib-manager：格式 + 重複 + 一致性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citation-checker：引用存在 + 準確 + 完整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三層驗證：存在性 → 準確性 → 完整性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52044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520440"/>
            <a:ext cx="64008" cy="118872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59359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引用格式速查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00600" y="3867912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單引用：@chen2026nilm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多引用：[@chen2026nilm; @kelly2015]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行內：@chen2026nilm 提出了...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括號：根據 [@kelly2015] 的結果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CSL 切換：改 .csl 檔即可換格式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輔助學術寫作：各章節策略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1645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645920" cy="5029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22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417320"/>
            <a:ext cx="14996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倒金字塔結構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廣→窄→本文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最後一段 = 貢獻聲明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"The main contributions..."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48256" y="822960"/>
            <a:ext cx="1645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48256" y="822960"/>
            <a:ext cx="1645920" cy="50292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2048256" y="822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Related 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21408" y="1417320"/>
            <a:ext cx="14996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從 Obsidian 文獻矩陣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→ 主題分組段落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每段結尾指出 Gap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→ 銜接本文方法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22192" y="822960"/>
            <a:ext cx="1645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22192" y="822960"/>
            <a:ext cx="1645920" cy="502920"/>
          </a:xfrm>
          <a:prstGeom prst="rect">
            <a:avLst/>
          </a:prstGeom>
          <a:solidFill>
            <a:srgbClr val="0A7A6B"/>
          </a:solidFill>
          <a:ln/>
        </p:spPr>
      </p:sp>
      <p:sp>
        <p:nvSpPr>
          <p:cNvPr id="15" name="Text 13"/>
          <p:cNvSpPr/>
          <p:nvPr/>
        </p:nvSpPr>
        <p:spPr>
          <a:xfrm>
            <a:off x="3822192" y="822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Methodology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95344" y="1417320"/>
            <a:ext cx="14996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圖表先行策略：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先畫框架圖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AI 根據圖寫文字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公式 + 偽代碼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96128" y="822960"/>
            <a:ext cx="1645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96128" y="822960"/>
            <a:ext cx="1645920" cy="50292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9" name="Text 17"/>
          <p:cNvSpPr/>
          <p:nvPr/>
        </p:nvSpPr>
        <p:spPr>
          <a:xfrm>
            <a:off x="5596128" y="822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1417320"/>
            <a:ext cx="14996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數據表 → AI 統計分析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→ 自動產出段落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"Table X shows that..."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含 effect size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70064" y="822960"/>
            <a:ext cx="1645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70064" y="822960"/>
            <a:ext cx="1645920" cy="502920"/>
          </a:xfrm>
          <a:prstGeom prst="rect">
            <a:avLst/>
          </a:prstGeom>
          <a:solidFill>
            <a:srgbClr val="134B6E"/>
          </a:solidFill>
          <a:ln/>
        </p:spPr>
      </p:sp>
      <p:sp>
        <p:nvSpPr>
          <p:cNvPr id="23" name="Text 21"/>
          <p:cNvSpPr/>
          <p:nvPr/>
        </p:nvSpPr>
        <p:spPr>
          <a:xfrm>
            <a:off x="7370064" y="822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Discussion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43216" y="1417320"/>
            <a:ext cx="1499616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限制性坦承：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"While effective, our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approach has limitations"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+ 未來展望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0690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406908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paper-writer Agent + academic-writing Skill — AI 撰寫初稿，人工修改潤色，確保學術風格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轉投策略：切中熱點與主編偏好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68680"/>
            <a:ext cx="1627632" cy="2377440"/>
          </a:xfrm>
          <a:prstGeom prst="rect">
            <a:avLst/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9D8A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83464" y="17373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Topic 分析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14884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抓取目標期刊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近 100 篇標題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AI topic clustering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65376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93392" y="868680"/>
            <a:ext cx="1627632" cy="2377440"/>
          </a:xfrm>
          <a:prstGeom prst="rect">
            <a:avLst/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48256" y="17373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主編偏好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66544" y="214884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Google Scholar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+ Editorial 分析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研究方向對齊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30168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58184" y="868680"/>
            <a:ext cx="1627632" cy="2377440"/>
          </a:xfrm>
          <a:prstGeom prst="rect">
            <a:avLst/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51960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7A6B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13048" y="17373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調整 Title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31336" y="214884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對齊期刊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熱門關鍵詞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提高匹配度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22976" y="868680"/>
            <a:ext cx="1627632" cy="2377440"/>
          </a:xfrm>
          <a:prstGeom prst="rect">
            <a:avLst/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16752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016752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A820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77840" y="17373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調整內容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96128" y="214884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Abstract + Intro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引用該期刊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近期文章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59752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87768" y="868680"/>
            <a:ext cx="1627632" cy="2377440"/>
          </a:xfrm>
          <a:prstGeom prst="rect">
            <a:avLst/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81544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81544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4B6E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42632" y="17373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格式轉換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60920" y="214884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改 YAML + CSL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quarto render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→ 新格式 PDF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52044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520440"/>
            <a:ext cx="64008" cy="11887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3593592"/>
            <a:ext cx="8394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案例：Energy &amp; Buildings → SETA 的轉投策略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1480" y="3867912"/>
            <a:ext cx="8394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Step 1: SETA 近 100 篇標題分析 → 「sustainable」「assessment」「renewable」高頻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Step 2: 主編 Prof. X 研究方向 → 能源系統評估、永續技術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Step 3: 原 Title 加入 "sustainable" + "assessment" 關鍵詞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Step 4: Introduction 第一段引用 SETA 近期 3 篇文章 → 展示 relevance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Step 5: YAML format 從 energy-buildings → elsevier-pdf + SETA 配置 → 5 秒切換完成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SVG 向量圖 + QMD → TeX 快速轉換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146304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為什麼用 SVG？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3913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1. 無限放大不失真（期刊要求 300+ DPI）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2. 可用 Inkscape 後編輯文字/顏色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3. 體積小（比 PNG 小 5-10 倍）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4. 主流期刊都接受 SVG/PDF 格式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468880"/>
            <a:ext cx="4114800" cy="14630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252374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Python 三格式輸出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779776"/>
            <a:ext cx="3895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同時輸出 3 種格式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fig.savefig('fig.svg', format='svg',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bbox_inches='tight')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fig.savefig('fig.pdf', format='pdf',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bbox_inches='tight')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fig.savefig('fig.png', format='png',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dpi=300, bbox_inches='tight')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22960"/>
            <a:ext cx="64008" cy="146304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89611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A820"/>
                </a:solidFill>
              </a:rPr>
              <a:t>QMD → TeX 快速轉換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170432"/>
            <a:ext cx="4005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quarto render paper.qmd --keep-tex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同時得到 .pdf + .tex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.tex 可直接：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提交 Overleaf 共同編輯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上傳期刊投稿系統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- 5 秒內完成格式轉換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468880"/>
            <a:ext cx="4206240" cy="14630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73168" y="2523744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QMD 圖片引用語法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2779776"/>
            <a:ext cx="39867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基本引用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![Framework](fig.pdf){#fig-framework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width="100%"}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文中引用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shown in @fig-framework, our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proposed method consists of...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Inkscape 後處理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SVG → PDF/EPS (特殊期刊要求)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416052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416052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完整圖表工作流：Python 生成 SVG → Inkscape 微調 → QMD 引用 → quarto render → 期刊格式 PDF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Skill 驅動的自動化統計驗證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/analyze-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experiment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20240" y="822960"/>
            <a:ext cx="137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8229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8229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data-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validator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03320" y="822960"/>
            <a:ext cx="137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8229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8229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stats-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validator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0" y="822960"/>
            <a:ext cx="137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23560" y="8229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8229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statistical-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validation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69480" y="822960"/>
            <a:ext cx="137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8229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8229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論文用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文本輸出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169164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1691640"/>
            <a:ext cx="64008" cy="155448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17647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data-validator 品質檢查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2039112"/>
            <a:ext cx="39136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數據完整性 (missing values)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過擬合風險 (train/test gap)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分佈一致性 (KS test)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split-leakage-audit Skill：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時間/實體洩漏檢測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P0-P3 問題分級自動標記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1691640"/>
            <a:ext cx="4206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691640"/>
            <a:ext cx="64008" cy="155448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76479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stats-validator 統計分析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2039112"/>
            <a:ext cx="40050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Bootstrap 信賴區間 (95% CI)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效果量 (Cohen's d)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功效分析 (Power &gt; 0.8)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方法選擇：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t-test / Mann-Whitney 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Wilcoxon / McNemar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論文用文本自動生成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47472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347472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案例：/analyze-experiment results.json → 發現 F1 差異 p=0.003 (顯著) + Cohen's d=1.2 (大效果量)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06908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C0392B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4069080"/>
            <a:ext cx="54864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4069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P0 致命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" y="40690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數據不一致、統計錯誤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468880" y="406908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E07A3A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468880" y="4069080"/>
            <a:ext cx="54864" cy="502920"/>
          </a:xfrm>
          <a:prstGeom prst="rect">
            <a:avLst/>
          </a:prstGeom>
          <a:solidFill>
            <a:srgbClr val="E07A3A"/>
          </a:solidFill>
          <a:ln/>
        </p:spPr>
      </p:sp>
      <p:sp>
        <p:nvSpPr>
          <p:cNvPr id="35" name="Text 33"/>
          <p:cNvSpPr/>
          <p:nvPr/>
        </p:nvSpPr>
        <p:spPr>
          <a:xfrm>
            <a:off x="2578608" y="4069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A"/>
                </a:solidFill>
              </a:rPr>
              <a:t>P1 嚴重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37560" y="40690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方法論漏洞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406908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E6A820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63440" y="4069080"/>
            <a:ext cx="54864" cy="50292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4069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A820"/>
                </a:solidFill>
              </a:rPr>
              <a:t>P2 重要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32120" y="40690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寫作/引用問題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58000" y="406908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5A6B7A">
              <a:alpha val="8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858000" y="4069080"/>
            <a:ext cx="54864" cy="502920"/>
          </a:xfrm>
          <a:prstGeom prst="rect">
            <a:avLst/>
          </a:prstGeom>
          <a:solidFill>
            <a:srgbClr val="5A6B7A"/>
          </a:solidFill>
          <a:ln/>
        </p:spPr>
      </p:sp>
      <p:sp>
        <p:nvSpPr>
          <p:cNvPr id="43" name="Text 41"/>
          <p:cNvSpPr/>
          <p:nvPr/>
        </p:nvSpPr>
        <p:spPr>
          <a:xfrm>
            <a:off x="6967728" y="4069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B7A"/>
                </a:solidFill>
              </a:rPr>
              <a:t>P3 次要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26680" y="40690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格式/風格建議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Claude Code 深度體驗 + Skill 自動化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128016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Skills 觸發機制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39136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說「統計」→ statistical-validation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說「引用」→ bib-manager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說「投稿」→ journal-submission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說「審查」→ paper-review-skill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24 個 Skill 語義自動匹配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64008" cy="128016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9611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Agents 分工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170432"/>
            <a:ext cx="4005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唯讀：citation-checker, paper-reviewer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安全不改檔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讀寫：paper-writer, submission-helper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可編輯論文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執行：data-validator, stats-validator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→ 可跑腳本驗證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27432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234086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Demo 1: 論文審查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2596896"/>
            <a:ext cx="25237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/review-paper paper.qmd "SETA"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citation-checker (引用)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data-validator (數據)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paper-reviewer (審查)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輸出：七維度評分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P0-P3 問題清單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2286000"/>
            <a:ext cx="27432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10128" y="234086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Demo 2: 實驗分析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2596896"/>
            <a:ext cx="25237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/analyze-experiment results.json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data-validator (品質)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stats-validator (統計)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輸出：Bootstrap CI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效果量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論文用文本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2286000"/>
            <a:ext cx="2743200" cy="18288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36208" y="234086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857"/>
                </a:solidFill>
              </a:rPr>
              <a:t>Demo 3: 投稿準備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36208" y="2596896"/>
            <a:ext cx="25237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/prepare-submission "SETA"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paper-reviewer (最終審)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submission-helper (準備)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輸出：Cover Letter 草稿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+ 10 項素材清單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F9D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Reviewer 建議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42976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429768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結業帶走：research-workspace.zip — 包含完整 24 Skills + 8 Agents + 5 Commands + CLAUDE.md 範本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9D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Session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多維度品質保證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與投稿策略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9D8A"/>
                </a:solidFill>
              </a:rPr>
              <a:t>Phase 9-11 | 七維度評分 + 平行審查 + Cover Letter + 投稿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七維度論文分析框架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1143000" cy="1645920"/>
          </a:xfrm>
          <a:prstGeom prst="roundRect">
            <a:avLst>
              <a:gd name="adj" fmla="val 4800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914400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結構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完整性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527048" y="822960"/>
            <a:ext cx="1143000" cy="1645920"/>
          </a:xfrm>
          <a:prstGeom prst="roundRect">
            <a:avLst>
              <a:gd name="adj" fmla="val 4800"/>
            </a:avLst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55648" y="914400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755648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79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27048" y="169164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方法論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嚴謹性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79776" y="822960"/>
            <a:ext cx="1143000" cy="1645920"/>
          </a:xfrm>
          <a:prstGeom prst="roundRect">
            <a:avLst>
              <a:gd name="adj" fmla="val 4800"/>
            </a:avLst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08376" y="914400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008376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79776" y="169164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實驗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設計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32504" y="822960"/>
            <a:ext cx="1143000" cy="1645920"/>
          </a:xfrm>
          <a:prstGeom prst="roundRect">
            <a:avLst>
              <a:gd name="adj" fmla="val 4800"/>
            </a:avLst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61104" y="914400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261104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032504" y="169164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數據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可信度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85232" y="822960"/>
            <a:ext cx="1143000" cy="1645920"/>
          </a:xfrm>
          <a:prstGeom prst="roundRect">
            <a:avLst>
              <a:gd name="adj" fmla="val 4800"/>
            </a:avLst>
          </a:prstGeom>
          <a:solidFill>
            <a:srgbClr val="134B6E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13832" y="914400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513832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78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85232" y="169164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寫作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清晰度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822960"/>
            <a:ext cx="1143000" cy="1645920"/>
          </a:xfrm>
          <a:prstGeom prst="roundRect">
            <a:avLst>
              <a:gd name="adj" fmla="val 4800"/>
            </a:avLst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914400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37960" y="169164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引用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完整性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90688" y="822960"/>
            <a:ext cx="1143000" cy="1645920"/>
          </a:xfrm>
          <a:prstGeom prst="roundRect">
            <a:avLst>
              <a:gd name="adj" fmla="val 4800"/>
            </a:avLst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19288" y="914400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019288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790688" y="169164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創新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貢獻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274320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743200"/>
            <a:ext cx="64008" cy="192024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281635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P0-P3 品質管控系統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" y="3090672"/>
            <a:ext cx="391363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P0 致命 — 必修，否則 desk-reject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例：數據不一致、統計方法錯誤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P1 嚴重 — 必修，影響審稿結果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例：方法論漏洞、引用錯誤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P2 重要 — 建議修改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例：寫作不清晰、圖表品質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P3 次要 — 時間允許就改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例：格式微調、風格建議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274320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743200"/>
            <a:ext cx="64008" cy="19202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281635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mvp-gatekeeper Skill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00600" y="3090672"/>
            <a:ext cx="400507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「能不能投稿？」一鍵檢查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8 項通用門檻：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1. 所有 P0 問題已修復？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2. 統計顯著性驗證通過？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3. 圖表數據一致？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4. 引用全部驗證？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5. 格式符合期刊要求？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6-8. ...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案例：2P0 + 3P1 → 修復後通過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平行審查：Claude x ChatGPT x Gemini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4572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22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Claude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強項：系統化 + Skill 生態系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審查重點：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七維度評分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P0-P3 分級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引用驗證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數據一致性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B7A"/>
                </a:solidFill>
              </a:rPr>
              <a:t>工具：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B7A"/>
                </a:solidFill>
              </a:rPr>
              <a:t>paper-review-skill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B7A"/>
                </a:solidFill>
              </a:rPr>
              <a:t>citation-checker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B7A"/>
                </a:solidFill>
              </a:rPr>
              <a:t>figure-table-checker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22960"/>
            <a:ext cx="2743200" cy="4572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822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ChatGPT (GPT-4o)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5D"/>
                </a:solidFill>
              </a:rPr>
              <a:t>強項：結構/寫作流暢度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6916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審查重點：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段落邏輯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語法修正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可讀性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論述連貫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B7A"/>
                </a:solidFill>
              </a:rPr>
              <a:t>工具：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B7A"/>
                </a:solidFill>
              </a:rPr>
              <a:t>Custom GPT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B7A"/>
                </a:solidFill>
              </a:rPr>
              <a:t>或 Prompt 模板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82296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822960"/>
            <a:ext cx="2743200" cy="45720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822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Gemini (2.5 Pro)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A820"/>
                </a:solidFill>
              </a:rPr>
              <a:t>強項：事實查核/長文檢索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16916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審查重點：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引用事實核對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數據聲明驗證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最新文獻覆蓋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B7A"/>
                </a:solidFill>
              </a:rPr>
              <a:t>工具：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B7A"/>
                </a:solidFill>
              </a:rPr>
              <a:t>NotebookLM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A6B7A"/>
                </a:solidFill>
              </a:rPr>
              <a:t>Deep Research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749040"/>
            <a:ext cx="8595360" cy="457200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5D"/>
                </a:solidFill>
              </a:rPr>
              <a:t>Step 4 整合（人工）：三份報告合併 → 去重 → 按 P0-P3 排序 → 修改優先級 — 三者共識 = 高信度問題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38912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438912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案例：Claude 發現數據不一致(P0)、ChatGPT 發現邏輯跳躍(P1)、Gemini 發現引用年份錯(P1)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三層引用驗證 + 圖表交叉引用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868680"/>
            <a:ext cx="640080" cy="64008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868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存在性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DOI 有效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作者名正確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年份正確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→ CrossRef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868680"/>
            <a:ext cx="640080" cy="640080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868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準確性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874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引用主張 vs 原文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是否正確引述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避免斷章取義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→ 人工 + 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8229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0" y="868680"/>
            <a:ext cx="640080" cy="640080"/>
          </a:xfrm>
          <a:prstGeom prst="ellipse">
            <a:avLst/>
          </a:prstGeom>
          <a:solidFill>
            <a:srgbClr val="E6A82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868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2648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A820"/>
                </a:solidFill>
              </a:rPr>
              <a:t>完整性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8745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所有 .bib 都被引用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所有引用都在 .bib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無幽靈/遺漏引用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→ bib-manager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80360"/>
            <a:ext cx="64008" cy="13716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9535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figure-table-checker Skill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227832"/>
            <a:ext cx="39136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自動掃描：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圖表編號連續性 (Fig.1, Fig.2...)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交叉引用完整性 (每張圖都被引用)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數字一致性 (文字 vs 表格 vs 圖)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- 圖片解析度檢查 (≥300 DPI)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88036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880360"/>
            <a:ext cx="64008" cy="137160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95351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evidence-indexer Skill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3227832"/>
            <a:ext cx="40050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證據追溯鏈：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Claim: 'F1 improved by 15%'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→ Table 3, Row 2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→ results/exp_results.json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→ experiment_log_20260115.md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確保每個聲明都有數據支撐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43484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443484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citation-checker Agent：唯讀權限，安全不改檔，逐筆比對 43 篇引用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Reviewer 預測與應對策略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572000" cy="777240"/>
          </a:xfrm>
          <a:prstGeom prst="rect">
            <a:avLst/>
          </a:prstGeom>
          <a:solidFill>
            <a:srgbClr val="0F9D8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54864" cy="77724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Q1: Why not use more recent transformer-based methods as baselines?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0" y="82296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8229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</a:rPr>
              <a:t>我們的定位是 training-free，與 supervised 方法屬不同範式。但已加入 Transformer baseline 作為參考。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4572000" cy="777240"/>
          </a:xfrm>
          <a:prstGeom prst="rect">
            <a:avLst/>
          </a:prstGeom>
          <a:solidFill>
            <a:srgbClr val="0B3C5D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783080"/>
            <a:ext cx="54864" cy="7772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830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Q2: The sample size seems limited. How generalizable are the results?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178308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66360" y="17830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</a:rPr>
              <a:t>跨 3 個數據集、9 類設備驗證。Bootstrap CI 證明結果穩定性。表 X 展示跨數據集一致性。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572000" cy="777240"/>
          </a:xfrm>
          <a:prstGeom prst="rect">
            <a:avLst/>
          </a:prstGeom>
          <a:solidFill>
            <a:srgbClr val="0A7A6B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743200"/>
            <a:ext cx="54864" cy="777240"/>
          </a:xfrm>
          <a:prstGeom prst="rect">
            <a:avLst/>
          </a:prstGeom>
          <a:solidFill>
            <a:srgbClr val="0A7A6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432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Q3: What are the computational costs compared to traditional methods?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0" y="274320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66360" y="27432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</a:rPr>
              <a:t>表 Y 已提供推理時間比較。LLM 推理成本約 $0.01/設備，遠低於標註成本 ($5K-50K)。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4572000" cy="777240"/>
          </a:xfrm>
          <a:prstGeom prst="rect">
            <a:avLst/>
          </a:prstGeom>
          <a:solidFill>
            <a:srgbClr val="E6A820">
              <a:alpha val="9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703320"/>
            <a:ext cx="54864" cy="77724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033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1A1A"/>
                </a:solidFill>
              </a:rPr>
              <a:t>Q4: How do you handle devices not in the LLM's training data?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0" y="3703320"/>
            <a:ext cx="3840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66360" y="37033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1A"/>
                </a:solidFill>
              </a:rPr>
              <a:t>Discussion 已坦承此限制。提出 RAG + few-shot 作為未來方向。Supplementary 含完整設備清單。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466344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rebuttal-matrix Skill — 追蹤每個 reviewer comment 的回覆狀態 + 修改位置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投稿全流程：Cover Letter → Rebuttal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201168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Cover Letter 5 段式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39136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P1: 投稿聲明（期刊名 + 論文標題）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P2: 研究背景 + 問題意義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P3: 核心貢獻（3 點）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P4: 與期刊 Scope 的關聯性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 引用該期刊近期 2-3 篇文章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P5: 作者聲明 + 聯繫方式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submission-helper Agent 自動生成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64008" cy="201168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9611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投稿素材 10 項清單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170432"/>
            <a:ext cx="40050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1. 論文 PDF（期刊格式）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2. 論文 .tex 源碼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3. Cover Letter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4. 圖表高解析度 (SVG/PDF, 300+ DPI)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5. Supplementary Material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6. Author Statement / CRediT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7. Highlights (3-5 bullets)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8. Graphical Abstract (800x400px)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9. Suggested Reviewers (3-5 人)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10. Data Availability Statement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63240"/>
            <a:ext cx="64008" cy="9144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136392"/>
            <a:ext cx="8394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submission-bundle Skill — 一鍵打包 + 完整性檢查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410712"/>
            <a:ext cx="8394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/prepare-submission "SETA" → paper-reviewer (最終審) → submission-helper (打包) → 輸出：Cover Letter + 10 項清單 + Reviewer 建議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自動檢查：所有檔案存在 | 圖表解析度 ≥300 DPI | .bib 引用完整 | YAML 格式正確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416052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416052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Suggested Reviewers 訣竅：從 references.bib 選 — 引用了誰的論文，誰就熟悉你的領域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期刊選擇與投稿策略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1325880" cy="1188720"/>
          </a:xfrm>
          <a:prstGeom prst="roundRect">
            <a:avLst>
              <a:gd name="adj" fmla="val 4615"/>
            </a:avLst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Scope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契合度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35%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37360" y="822960"/>
            <a:ext cx="1325880" cy="1188720"/>
          </a:xfrm>
          <a:prstGeom prst="roundRect">
            <a:avLst>
              <a:gd name="adj" fmla="val 4615"/>
            </a:avLst>
          </a:prstGeom>
          <a:solidFill>
            <a:srgbClr val="0B3C5D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8686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Impact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Factor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508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15%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1325880" cy="1188720"/>
          </a:xfrm>
          <a:prstGeom prst="roundRect">
            <a:avLst>
              <a:gd name="adj" fmla="val 4615"/>
            </a:avLst>
          </a:prstGeom>
          <a:solidFill>
            <a:srgbClr val="E6A82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8686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主編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偏好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508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20%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1325880" cy="1188720"/>
          </a:xfrm>
          <a:prstGeom prst="roundRect">
            <a:avLst>
              <a:gd name="adj" fmla="val 4615"/>
            </a:avLst>
          </a:prstGeom>
          <a:solidFill>
            <a:srgbClr val="0A7A6B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8686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近期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收錄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508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15%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822960"/>
            <a:ext cx="1325880" cy="1188720"/>
          </a:xfrm>
          <a:prstGeom prst="roundRect">
            <a:avLst>
              <a:gd name="adj" fmla="val 4615"/>
            </a:avLst>
          </a:prstGeom>
          <a:solidFill>
            <a:srgbClr val="134B6E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8686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審稿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週期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1508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10%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89520" y="822960"/>
            <a:ext cx="1325880" cy="1188720"/>
          </a:xfrm>
          <a:prstGeom prst="roundRect">
            <a:avLst>
              <a:gd name="adj" fmla="val 4615"/>
            </a:avLst>
          </a:prstGeom>
          <a:solidFill>
            <a:srgbClr val="5A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86868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OA/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APC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9520" y="15087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5%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4320" y="2286000"/>
            <a:ext cx="2011680" cy="310896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2860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期刊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0" y="2286000"/>
            <a:ext cx="1005840" cy="310896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0" y="22860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Scope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91840" y="2286000"/>
            <a:ext cx="1005840" cy="310896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22860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IF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97680" y="2286000"/>
            <a:ext cx="1005840" cy="310896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0" y="22860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主編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03520" y="2286000"/>
            <a:ext cx="1005840" cy="310896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0" y="22860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收錄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2286000"/>
            <a:ext cx="1188720" cy="310896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22860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審稿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98080" y="2286000"/>
            <a:ext cx="1097280" cy="310896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0" y="22860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加權分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2633472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26334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Applied Energy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0" y="2633472"/>
            <a:ext cx="10058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2286000" y="26334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90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91840" y="2633472"/>
            <a:ext cx="10058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291840" y="26334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85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97680" y="2633472"/>
            <a:ext cx="10058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4297680" y="26334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80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303520" y="2633472"/>
            <a:ext cx="10058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0" y="26334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75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09360" y="2633472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309360" y="26334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70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98080" y="2633472"/>
            <a:ext cx="10972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7498080" y="26334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91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2980944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" y="29809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IEEE TII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0" y="2980944"/>
            <a:ext cx="10058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2286000" y="29809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85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91840" y="2980944"/>
            <a:ext cx="10058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3291840" y="29809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90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297680" y="2980944"/>
            <a:ext cx="10058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4297680" y="29809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80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303520" y="2980944"/>
            <a:ext cx="10058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5303520" y="29809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80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309360" y="2980944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309360" y="29809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75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498080" y="2980944"/>
            <a:ext cx="10972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7498080" y="29809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89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3328416"/>
            <a:ext cx="2011680" cy="310896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66" name="Text 64"/>
          <p:cNvSpPr/>
          <p:nvPr/>
        </p:nvSpPr>
        <p:spPr>
          <a:xfrm>
            <a:off x="274320" y="3328416"/>
            <a:ext cx="201168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SETA (選定)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286000" y="3328416"/>
            <a:ext cx="1005840" cy="310896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68" name="Text 66"/>
          <p:cNvSpPr/>
          <p:nvPr/>
        </p:nvSpPr>
        <p:spPr>
          <a:xfrm>
            <a:off x="2286000" y="33284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95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91840" y="3328416"/>
            <a:ext cx="1005840" cy="310896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70" name="Text 68"/>
          <p:cNvSpPr/>
          <p:nvPr/>
        </p:nvSpPr>
        <p:spPr>
          <a:xfrm>
            <a:off x="3291840" y="33284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70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297680" y="3328416"/>
            <a:ext cx="1005840" cy="310896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72" name="Text 70"/>
          <p:cNvSpPr/>
          <p:nvPr/>
        </p:nvSpPr>
        <p:spPr>
          <a:xfrm>
            <a:off x="4297680" y="33284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85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303520" y="3328416"/>
            <a:ext cx="1005840" cy="310896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74" name="Text 72"/>
          <p:cNvSpPr/>
          <p:nvPr/>
        </p:nvSpPr>
        <p:spPr>
          <a:xfrm>
            <a:off x="5303520" y="33284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90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309360" y="3328416"/>
            <a:ext cx="1188720" cy="310896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76" name="Text 74"/>
          <p:cNvSpPr/>
          <p:nvPr/>
        </p:nvSpPr>
        <p:spPr>
          <a:xfrm>
            <a:off x="6309360" y="33284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80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498080" y="3328416"/>
            <a:ext cx="1097280" cy="310896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78" name="Text 76"/>
          <p:cNvSpPr/>
          <p:nvPr/>
        </p:nvSpPr>
        <p:spPr>
          <a:xfrm>
            <a:off x="7498080" y="33284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8A"/>
                </a:solidFill>
              </a:rPr>
              <a:t>87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74320" y="3675888"/>
            <a:ext cx="20116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274320" y="36758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Energy &amp; Buildings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286000" y="3675888"/>
            <a:ext cx="10058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2286000" y="36758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80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291840" y="3675888"/>
            <a:ext cx="10058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3291840" y="36758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85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297680" y="3675888"/>
            <a:ext cx="10058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4"/>
          <p:cNvSpPr/>
          <p:nvPr/>
        </p:nvSpPr>
        <p:spPr>
          <a:xfrm>
            <a:off x="4297680" y="36758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75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303520" y="3675888"/>
            <a:ext cx="10058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6"/>
          <p:cNvSpPr/>
          <p:nvPr/>
        </p:nvSpPr>
        <p:spPr>
          <a:xfrm>
            <a:off x="5303520" y="36758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70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309360" y="3675888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Text 88"/>
          <p:cNvSpPr/>
          <p:nvPr/>
        </p:nvSpPr>
        <p:spPr>
          <a:xfrm>
            <a:off x="6309360" y="36758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65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498080" y="3675888"/>
            <a:ext cx="109728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Text 90"/>
          <p:cNvSpPr/>
          <p:nvPr/>
        </p:nvSpPr>
        <p:spPr>
          <a:xfrm>
            <a:off x="7498080" y="36758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78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274320" y="40690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94" name="Text 92"/>
          <p:cNvSpPr/>
          <p:nvPr/>
        </p:nvSpPr>
        <p:spPr>
          <a:xfrm>
            <a:off x="384048" y="406908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journal-fit Skill：輸入研究主題 → 6 維度加權評分 → 期刊排名 + desk-reject 風險 + 審稿週期預估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2 實作練習 &amp; Checklist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219456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9611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實作任務清單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391363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[ ] 1. 建立 QMD 論文骨架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   含完整 YAML 檔頭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[ ] 2. 設定 bibliography + csl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[ ] 3. 寫出 Abstract 初稿 (200 字)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[ ] 4. 加入 3 個引用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   quarto render 驗證格式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[ ] 5. (進階) 產出 SVG 圖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   嵌入 QMD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[ ] 6. (進階) 用 /review-paper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    審查自己的論文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64008" cy="219456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9611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今日核心技能 (12 項)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170432"/>
            <a:ext cx="40050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1. IMRaD 架構設計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2. MD → QMD 轉換 + YAML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3. 期刊格式配置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4. 遠端 GPU 實驗執行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5. TG Bot 實驗監控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6. 可重現性設計 (seed=42)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7. 數據一致性三角驗證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8. SVG 向量圖製作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 9. 轉投策略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10. 平行審查 (3 AI)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11. P0-P3 品質管控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12. Cover Letter 撰寫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24612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324612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實作時間 15 分鐘 — 建立 QMD 骨架 + Abstract + 3 引用 + quarto render 產出 PDF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91440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867912"/>
            <a:ext cx="8394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A820"/>
                </a:solidFill>
              </a:rPr>
              <a:t>結業帶走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142232"/>
            <a:ext cx="8394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research-workspace.zip (24 Skills + 8 Agents + 5 Commands) | CLAUDE.md 範本 | QMD 論文模板 (4 種期刊) | references.bib 範例 | 統計分析腳本 | 七維度審查報告範例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系統部署：帶走你的 AI 研究團隊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68680"/>
            <a:ext cx="2068830" cy="2377440"/>
          </a:xfrm>
          <a:prstGeom prst="rect">
            <a:avLst/>
          </a:prstGeom>
          <a:solidFill>
            <a:srgbClr val="0F9D8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2975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42975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9D8A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83464" y="17373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下載安裝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21488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research-workspace.zip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解壓到專案目錄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3 分鐘完成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06574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34590" y="868680"/>
            <a:ext cx="2068830" cy="2377440"/>
          </a:xfrm>
          <a:prstGeom prst="rect">
            <a:avLst/>
          </a:prstGeom>
          <a:solidFill>
            <a:srgbClr val="0B3C5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48965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148965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C5D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89454" y="17373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客製化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07742" y="21488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修改 CLAUDE.md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設定研究主題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調整引用規則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12564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0580" y="868680"/>
            <a:ext cx="2068830" cy="2377440"/>
          </a:xfrm>
          <a:prstGeom prst="rect">
            <a:avLst/>
          </a:prstGeom>
          <a:solidFill>
            <a:srgbClr val="0A7A6B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54955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354955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7A6B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95444" y="17373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Skills 擴充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13732" y="21488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新增專屬 Skill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修改觸發詞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加入新 Agent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18554" y="182880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46570" y="868680"/>
            <a:ext cx="2068830" cy="2377440"/>
          </a:xfrm>
          <a:prstGeom prst="rect">
            <a:avLst/>
          </a:prstGeom>
          <a:solidFill>
            <a:srgbClr val="E6A820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60945" y="978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560945" y="9784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A820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1434" y="1737360"/>
            <a:ext cx="19591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遠端設定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19722" y="2148840"/>
            <a:ext cx="19225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TG Bot (可選)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遠端 GPU 配置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F0EB"/>
                </a:solidFill>
              </a:rPr>
              <a:t>SSH 自動化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52044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520440"/>
            <a:ext cx="64008" cy="11887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5935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research-workspace.zip 內容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1480" y="3867912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.claude/skills/    → 24 個 Skills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.claude/agents/    → 8 個 Agents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.claude/commands/  → 5 個 Commands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CLAUDE.md          → 範本 (可客製)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templates/         → QMD + YAML 模板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scripts/           → Python + GAS 腳本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52044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520440"/>
            <a:ext cx="64008" cy="118872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59359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部署後的效果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00600" y="3867912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你說「審查論文」→ 自動啟動審查流程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你說「分析文獻」→ 自動 Gap 分析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你說「準備投稿」→ 自動生成 Cover Letter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AI 參與度：70-75%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你負責：決策 + 審核 + 學術判斷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完整 AI 論文研究工作流程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822960"/>
            <a:ext cx="713232" cy="1463040"/>
          </a:xfrm>
          <a:prstGeom prst="roundRect">
            <a:avLst>
              <a:gd name="adj" fmla="val 6410"/>
            </a:avLst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84124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</a:rPr>
              <a:t>P1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" y="109728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概念探索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1554480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F0EB"/>
                </a:solidFill>
              </a:rPr>
              <a:t>Claude Chat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60120" y="822960"/>
            <a:ext cx="713232" cy="1463040"/>
          </a:xfrm>
          <a:prstGeom prst="roundRect">
            <a:avLst>
              <a:gd name="adj" fmla="val 6410"/>
            </a:avLst>
          </a:prstGeom>
          <a:solidFill>
            <a:srgbClr val="0F9D8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84124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</a:rPr>
              <a:t>P2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109728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文獻調研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1554480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F0EB"/>
                </a:solidFill>
              </a:rPr>
              <a:t>CrossRef+API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737360" y="822960"/>
            <a:ext cx="713232" cy="1463040"/>
          </a:xfrm>
          <a:prstGeom prst="roundRect">
            <a:avLst>
              <a:gd name="adj" fmla="val 6410"/>
            </a:avLst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84124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</a:rPr>
              <a:t>P3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37360" y="109728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研究定位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37360" y="1554480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F0EB"/>
                </a:solidFill>
              </a:rPr>
              <a:t>journal-fit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14600" y="822960"/>
            <a:ext cx="713232" cy="1463040"/>
          </a:xfrm>
          <a:prstGeom prst="roundRect">
            <a:avLst>
              <a:gd name="adj" fmla="val 6410"/>
            </a:avLst>
          </a:prstGeom>
          <a:solidFill>
            <a:srgbClr val="134B6E"/>
          </a:solidFill>
          <a:ln/>
        </p:spPr>
      </p:sp>
      <p:sp>
        <p:nvSpPr>
          <p:cNvPr id="18" name="Text 16"/>
          <p:cNvSpPr/>
          <p:nvPr/>
        </p:nvSpPr>
        <p:spPr>
          <a:xfrm>
            <a:off x="2514600" y="84124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</a:rPr>
              <a:t>P4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14600" y="109728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論文架構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14600" y="1554480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F0EB"/>
                </a:solidFill>
              </a:rPr>
              <a:t>IMRaD+QMD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91840" y="822960"/>
            <a:ext cx="713232" cy="1463040"/>
          </a:xfrm>
          <a:prstGeom prst="roundRect">
            <a:avLst>
              <a:gd name="adj" fmla="val 6410"/>
            </a:avLst>
          </a:prstGeom>
          <a:solidFill>
            <a:srgbClr val="134B6E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84124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</a:rPr>
              <a:t>P5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0" y="109728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實驗設計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1554480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F0EB"/>
                </a:solidFill>
              </a:rPr>
              <a:t>exp-tracker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069080" y="822960"/>
            <a:ext cx="713232" cy="1463040"/>
          </a:xfrm>
          <a:prstGeom prst="roundRect">
            <a:avLst>
              <a:gd name="adj" fmla="val 6410"/>
            </a:avLst>
          </a:prstGeom>
          <a:solidFill>
            <a:srgbClr val="134B6E"/>
          </a:solidFill>
          <a:ln/>
        </p:spPr>
      </p:sp>
      <p:sp>
        <p:nvSpPr>
          <p:cNvPr id="26" name="Text 24"/>
          <p:cNvSpPr/>
          <p:nvPr/>
        </p:nvSpPr>
        <p:spPr>
          <a:xfrm>
            <a:off x="4069080" y="84124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</a:rPr>
              <a:t>P6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69080" y="109728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實驗執行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69080" y="1554480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F0EB"/>
                </a:solidFill>
              </a:rPr>
              <a:t>GPU+TGBot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846320" y="822960"/>
            <a:ext cx="713232" cy="1463040"/>
          </a:xfrm>
          <a:prstGeom prst="roundRect">
            <a:avLst>
              <a:gd name="adj" fmla="val 6410"/>
            </a:avLst>
          </a:prstGeom>
          <a:solidFill>
            <a:srgbClr val="134B6E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84124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</a:rPr>
              <a:t>P7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109728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數據分析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1554480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F0EB"/>
                </a:solidFill>
              </a:rPr>
              <a:t>stats-valid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623560" y="822960"/>
            <a:ext cx="713232" cy="1463040"/>
          </a:xfrm>
          <a:prstGeom prst="roundRect">
            <a:avLst>
              <a:gd name="adj" fmla="val 6410"/>
            </a:avLst>
          </a:prstGeom>
          <a:solidFill>
            <a:srgbClr val="134B6E"/>
          </a:solidFill>
          <a:ln/>
        </p:spPr>
      </p:sp>
      <p:sp>
        <p:nvSpPr>
          <p:cNvPr id="34" name="Text 32"/>
          <p:cNvSpPr/>
          <p:nvPr/>
        </p:nvSpPr>
        <p:spPr>
          <a:xfrm>
            <a:off x="5623560" y="84124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</a:rPr>
              <a:t>P8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23560" y="109728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論文撰寫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23560" y="1554480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F0EB"/>
                </a:solidFill>
              </a:rPr>
              <a:t>paper-writer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400800" y="822960"/>
            <a:ext cx="713232" cy="1463040"/>
          </a:xfrm>
          <a:prstGeom prst="roundRect">
            <a:avLst>
              <a:gd name="adj" fmla="val 6410"/>
            </a:avLst>
          </a:prstGeom>
          <a:solidFill>
            <a:srgbClr val="134B6E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84124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</a:rPr>
              <a:t>P9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0" y="109728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品質審查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1554480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F0EB"/>
                </a:solidFill>
              </a:rPr>
              <a:t>3-AI review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178040" y="822960"/>
            <a:ext cx="713232" cy="1463040"/>
          </a:xfrm>
          <a:prstGeom prst="roundRect">
            <a:avLst>
              <a:gd name="adj" fmla="val 6410"/>
            </a:avLst>
          </a:prstGeom>
          <a:solidFill>
            <a:srgbClr val="134B6E"/>
          </a:solidFill>
          <a:ln/>
        </p:spPr>
      </p:sp>
      <p:sp>
        <p:nvSpPr>
          <p:cNvPr id="42" name="Text 40"/>
          <p:cNvSpPr/>
          <p:nvPr/>
        </p:nvSpPr>
        <p:spPr>
          <a:xfrm>
            <a:off x="7178040" y="84124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</a:rPr>
              <a:t>P10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78040" y="109728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投稿準備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78040" y="1554480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F0EB"/>
                </a:solidFill>
              </a:rPr>
              <a:t>submission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955280" y="822960"/>
            <a:ext cx="713232" cy="1463040"/>
          </a:xfrm>
          <a:prstGeom prst="roundRect">
            <a:avLst>
              <a:gd name="adj" fmla="val 6410"/>
            </a:avLst>
          </a:prstGeom>
          <a:solidFill>
            <a:srgbClr val="134B6E"/>
          </a:solidFill>
          <a:ln/>
        </p:spPr>
      </p:sp>
      <p:sp>
        <p:nvSpPr>
          <p:cNvPr id="46" name="Text 44"/>
          <p:cNvSpPr/>
          <p:nvPr/>
        </p:nvSpPr>
        <p:spPr>
          <a:xfrm>
            <a:off x="7955280" y="841248"/>
            <a:ext cx="713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</a:rPr>
              <a:t>P11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955280" y="109728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審稿回覆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955280" y="1554480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F0EB"/>
                </a:solidFill>
              </a:rPr>
              <a:t>rebuttal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74320" y="260604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74320" y="2606040"/>
            <a:ext cx="64008" cy="146304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51" name="Text 49"/>
          <p:cNvSpPr/>
          <p:nvPr/>
        </p:nvSpPr>
        <p:spPr>
          <a:xfrm>
            <a:off x="411480" y="267919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本週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11480" y="2953512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安裝 research-workspace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建立第一份 QMD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用 API 驗證 10 篇引用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200400" y="260604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00400" y="2606040"/>
            <a:ext cx="64008" cy="1463040"/>
          </a:xfrm>
          <a:prstGeom prst="rect">
            <a:avLst/>
          </a:prstGeom>
          <a:solidFill>
            <a:srgbClr val="0B3C5D"/>
          </a:solidFill>
          <a:ln/>
        </p:spPr>
      </p:sp>
      <p:sp>
        <p:nvSpPr>
          <p:cNvPr id="55" name="Text 53"/>
          <p:cNvSpPr/>
          <p:nvPr/>
        </p:nvSpPr>
        <p:spPr>
          <a:xfrm>
            <a:off x="3337560" y="267919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</a:rPr>
              <a:t>1 個月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337560" y="2953512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完成論文骨架 + Related Work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跑完第一輪實驗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用 /review-paper 自審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126480" y="260604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126480" y="2606040"/>
            <a:ext cx="64008" cy="1463040"/>
          </a:xfrm>
          <a:prstGeom prst="rect">
            <a:avLst/>
          </a:prstGeom>
          <a:solidFill>
            <a:srgbClr val="E6A820"/>
          </a:solidFill>
          <a:ln/>
        </p:spPr>
      </p:sp>
      <p:sp>
        <p:nvSpPr>
          <p:cNvPr id="59" name="Text 57"/>
          <p:cNvSpPr/>
          <p:nvPr/>
        </p:nvSpPr>
        <p:spPr>
          <a:xfrm>
            <a:off x="6263640" y="267919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A820"/>
                </a:solidFill>
              </a:rPr>
              <a:t>3 個月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263640" y="2953512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論文初稿完成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平行審查 (3 AI)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投稿目標期刊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74320" y="42976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</p:sp>
      <p:sp>
        <p:nvSpPr>
          <p:cNvPr id="62" name="Text 60"/>
          <p:cNvSpPr/>
          <p:nvPr/>
        </p:nvSpPr>
        <p:spPr>
          <a:xfrm>
            <a:off x="384048" y="429768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3C5D"/>
                </a:solidFill>
              </a:rPr>
              <a:t>AI 參與度 70-75% | 你的角色：決策者 + 審核者 + 學術判斷 | 11 Phase 完整覆蓋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F9D8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457200"/>
            <a:ext cx="2286000" cy="2286000"/>
          </a:xfrm>
          <a:prstGeom prst="ellipse">
            <a:avLst/>
          </a:prstGeom>
          <a:solidFill>
            <a:srgbClr val="FFC857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謝謝大家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C857"/>
                </a:solidFill>
              </a:rPr>
              <a:t>AI 不會取代研究者，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C857"/>
                </a:solidFill>
              </a:rPr>
              <a:t>但善用 AI 的研究者會超越不用的。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核心理念：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1. 流程導向，工具服務流程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2. 內建品質保證，不只教工具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3. 帶走完整系統，持續進化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cooperation.tw | AI Paper Workshop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Paper Workshop - Day 2</dc:title>
  <dc:subject>PptxGenJS Presentation</dc:subject>
  <dc:creator>Alan Chen</dc:creator>
  <cp:lastModifiedBy>Alan Chen</cp:lastModifiedBy>
  <cp:revision>1</cp:revision>
  <dcterms:created xsi:type="dcterms:W3CDTF">2026-03-07T04:56:28Z</dcterms:created>
  <dcterms:modified xsi:type="dcterms:W3CDTF">2026-03-07T04:56:28Z</dcterms:modified>
</cp:coreProperties>
</file>