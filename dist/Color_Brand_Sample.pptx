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7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3693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Brand System  |  品牌視覺體系總覽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8686800" cy="50292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策略：只換 Primary Color，其他保持統一 — Secondary: Emerald AI Green  |  Accent: Highlight Yellow  |  Background + Text 固定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1600200" cy="7772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28600" y="1508760"/>
            <a:ext cx="1600200" cy="36576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28600" y="1618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論文工作坊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860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Paper Workshop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  Deep Academic Blue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65760" y="28346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#0F9D8A  Emerald AI Green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65760" y="31821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65760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#FFC857  Highlight Yellow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320040" y="35661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 / Science / Elsevier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4320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|  24 Skills  |  8 Agents  |  4 APIs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2002536" y="150876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002536" y="1508760"/>
            <a:ext cx="1600200" cy="7772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2002536" y="1508760"/>
            <a:ext cx="1600200" cy="36576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2002536" y="1618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永續工作坊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02536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Sustainability Workshop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39696" y="24231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139696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#2D6A4F  Forest Sustainability Green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139696" y="28346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2139696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#0F9D8A  Emerald AI Green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2139696" y="31821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2139696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#FFC857  Highlight Yellow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2093976" y="35661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Tech / UNEP / IPCC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048256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|  ESG AI  |  Net Zero  |  CBAM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3776472" y="150876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3776472" y="1508760"/>
            <a:ext cx="1600200" cy="7772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776472" y="1508760"/>
            <a:ext cx="1600200" cy="36576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776472" y="1618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通用工作坊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76472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General Workshop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913632" y="24231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3913632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#1A2744  AI Core Blue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3913632" y="28346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3913632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#0F9D8A  Emerald AI Green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3913632" y="31821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3913632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#FFC857  Highlight Yellow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3867912" y="35661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Google AI / Anthropic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822192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 |  Prompt  |  Agent  |  MCP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5550408" y="150876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5550408" y="1508760"/>
            <a:ext cx="1600200" cy="7772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Shape 46"/>
          <p:cNvSpPr/>
          <p:nvPr/>
        </p:nvSpPr>
        <p:spPr>
          <a:xfrm>
            <a:off x="5550408" y="1508760"/>
            <a:ext cx="1600200" cy="36576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550408" y="1618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智慧製造工作坊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550408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Smart Manufacturing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687568" y="24231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5687568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#374151  Industrial Graphite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5687568" y="28346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5687568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#0F9D8A  Emerald AI Green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5687568" y="31821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5687568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#FFC857  Highlight Yellow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641848" y="35661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/ Bosch / Tesla Factory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96128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Days  |  Industry 4.0  |  Digital Twin  |  PHM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7324344" y="1508760"/>
            <a:ext cx="16002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0" name="Shape 58"/>
          <p:cNvSpPr/>
          <p:nvPr/>
        </p:nvSpPr>
        <p:spPr>
          <a:xfrm>
            <a:off x="7324344" y="1508760"/>
            <a:ext cx="1600200" cy="7772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Shape 59"/>
          <p:cNvSpPr/>
          <p:nvPr/>
        </p:nvSpPr>
        <p:spPr>
          <a:xfrm>
            <a:off x="7324344" y="1508760"/>
            <a:ext cx="1600200" cy="36576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7324344" y="161848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理財工作坊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324344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Finance Workshop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7461504" y="2423160"/>
            <a:ext cx="1325880" cy="320040"/>
          </a:xfrm>
          <a:prstGeom prst="roundRect">
            <a:avLst>
              <a:gd name="adj" fmla="val 11429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7461504" y="242316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  Finance Navy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461504" y="283464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7461504" y="283464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#0F9D8A  Emerald AI Green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7461504" y="3182112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7461504" y="3182112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#FFC857  Highlight Yellow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415784" y="3566160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 / Goldman Sachs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370064" y="384048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Day  |  FinTech  |  Risk AI  |  Quant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71"/>
          <p:cNvSpPr/>
          <p:nvPr/>
        </p:nvSpPr>
        <p:spPr>
          <a:xfrm>
            <a:off x="365760" y="4873752"/>
            <a:ext cx="201168" cy="201168"/>
          </a:xfrm>
          <a:prstGeom prst="ellipse">
            <a:avLst/>
          </a:prstGeom>
          <a:solidFill>
            <a:srgbClr val="0B3C5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4" name="Shape 72"/>
          <p:cNvSpPr/>
          <p:nvPr/>
        </p:nvSpPr>
        <p:spPr>
          <a:xfrm>
            <a:off x="749808" y="4873752"/>
            <a:ext cx="201168" cy="20116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Shape 73"/>
          <p:cNvSpPr/>
          <p:nvPr/>
        </p:nvSpPr>
        <p:spPr>
          <a:xfrm>
            <a:off x="1133856" y="4873752"/>
            <a:ext cx="201168" cy="201168"/>
          </a:xfrm>
          <a:prstGeom prst="ellipse">
            <a:avLst/>
          </a:prstGeom>
          <a:solidFill>
            <a:srgbClr val="1A274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hape 74"/>
          <p:cNvSpPr/>
          <p:nvPr/>
        </p:nvSpPr>
        <p:spPr>
          <a:xfrm>
            <a:off x="1517904" y="4873752"/>
            <a:ext cx="201168" cy="20116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7" name="Shape 75"/>
          <p:cNvSpPr/>
          <p:nvPr/>
        </p:nvSpPr>
        <p:spPr>
          <a:xfrm>
            <a:off x="1901952" y="4873752"/>
            <a:ext cx="201168" cy="201168"/>
          </a:xfrm>
          <a:prstGeom prst="ellipse">
            <a:avLst/>
          </a:prstGeom>
          <a:solidFill>
            <a:srgbClr val="0F9D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8" name="Shape 76"/>
          <p:cNvSpPr/>
          <p:nvPr/>
        </p:nvSpPr>
        <p:spPr>
          <a:xfrm>
            <a:off x="2286000" y="4873752"/>
            <a:ext cx="201168" cy="20116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9" name="Shape 77"/>
          <p:cNvSpPr/>
          <p:nvPr/>
        </p:nvSpPr>
        <p:spPr>
          <a:xfrm>
            <a:off x="2670048" y="4873752"/>
            <a:ext cx="201168" cy="201168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0" name="Text 78"/>
          <p:cNvSpPr/>
          <p:nvPr/>
        </p:nvSpPr>
        <p:spPr>
          <a:xfrm>
            <a:off x="3291840" y="4709160"/>
            <a:ext cx="5577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Brand System  |  Primary 變化 × 統一品牌感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論文工作坊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從概念探索到論文投稿的完整 AI 協作流程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8 Agents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4 APIs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Paper Workshop  |  內容範例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6B"/>
                </a:solidFill>
              </a:rPr>
              <a:t>文獻調研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CrossRef API 驗證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Semantic Scholar 分析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Obsidian 知識圖譜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20"/>
                </a:solidFill>
              </a:rPr>
              <a:t>品質審查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七維度評分框架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P0-P3 問題分級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Claude×ChatGPT×Gemini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5D"/>
                </a:solidFill>
              </a:rPr>
              <a:t>投稿準備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Cover Letter 撰寫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10 項素材清單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Rebuttal Matrix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✨ 提示：所有引用必須經 API 多重驗證，絕不盲信 AI 產出的 DOI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  Deep Academic Blue  |  #0F9D8A  Emerald AI Green  |  #FFC857  Highlight Yellow  |  獨立配色: #0F9D8A Emerald AI Green + #FFC857 Highlight Yellow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永續工作坊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賦能 ESG、淨零轉型與能源管理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ESG AI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Net Zero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6A4F"/>
                </a:solidFill>
              </a:rPr>
              <a:t>CBAM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Sustainability Workshop  |  內容範例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6B"/>
                </a:solidFill>
              </a:rPr>
              <a:t>碳盤查與 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範疇 1/2/3 自動化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GHG Protocol 對接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數據清洗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20"/>
                </a:solidFill>
              </a:rPr>
              <a:t>淨零路徑規劃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SBTi 目標設定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情境模擬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減碳優先序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</a:rPr>
              <a:t>ESG 報告撰寫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GRI/SASB/TCFD 框架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輔助披露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重大性分析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A4F"/>
                </a:solidFill>
              </a:rPr>
              <a:t>✨ 提示：碳排放係數必須來自官方資料庫，AI 僅輔助計算與報告生成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#2D6A4F  Forest Sustainability Green  |  #0F9D8A  Emerald AI Green  |  #FFC857  Highlight Yellow  |  獨立配色: #0F9D8A Emerald AI Green + #FFC857 Energy Highlight Yellow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通用工作坊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基礎、工具應用與 AI 思維培養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</a:rPr>
              <a:t>1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</a:rPr>
              <a:t>Prompt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</a:rPr>
              <a:t>Agent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744"/>
                </a:solidFill>
              </a:rPr>
              <a:t>MCP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General Workshop  |  內容範例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6B"/>
                </a:solidFill>
              </a:rPr>
              <a:t>Prompt 工程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Chain of Thought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Few-shot Learning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結構化輸出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20"/>
                </a:solidFill>
              </a:rPr>
              <a:t>AI Agent 實作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Claude Code CLI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MCP 工具鏈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Multi-Agent 協作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744"/>
                </a:solidFill>
              </a:rPr>
              <a:t>AI 工作流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自動化場景設計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API 串接實作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效率評估框架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744"/>
                </a:solidFill>
              </a:rPr>
              <a:t>✨ 提示：AI 是協作夥伴，不是替代方案——人類判斷力始終是最終檢核點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#1A2744  AI Core Blue  |  #0F9D8A  Emerald AI Green  |  #FFC857  Highlight Yellow  |  獨立配色: #7C3AED AI Neural Purple + #06B6D4 Data Cyan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74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智慧製造工作坊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Industry 4.0、智慧工廠與生產優化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Industry 4.0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Digital Twin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PHM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Smart Manufacturing  |  內容範例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6B"/>
                </a:solidFill>
              </a:rPr>
              <a:t>預測性維護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振動分析 AI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故障預測模型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PHM 系統架構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20"/>
                </a:solidFill>
              </a:rPr>
              <a:t>製程優化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SPC + AI 異常偵測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良率預測模型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參數自動調整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</a:rPr>
              <a:t>Digital Twin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虛實整合架構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模擬與驗證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即時監控儀表板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✨ 提示：工廠數據必須經過去識別化、權限控制後才能餵入 AI 模型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#374151  Industrial Graphite  |  #0F9D8A  Emerald AI Green  |  #FFC857  Highlight Yellow  |  獨立配色: #2563EB Robotics Blue + #F59E0B Safety Orange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24688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274320"/>
            <a:ext cx="2926080" cy="292608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365760"/>
            <a:ext cx="2011680" cy="201168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2286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理財工作坊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960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投資分析、FinTech 與風險管理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1 Day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8308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783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FinTech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20040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Risk 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17320"/>
            <a:ext cx="1234440" cy="292608"/>
          </a:xfrm>
          <a:prstGeom prst="roundRect">
            <a:avLst>
              <a:gd name="adj" fmla="val 18750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61772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Quant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2359152"/>
            <a:ext cx="9144000" cy="18288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0" y="2542032"/>
            <a:ext cx="9144000" cy="2601468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0" y="2542032"/>
            <a:ext cx="9144000" cy="47548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25420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Finance Workshop  |  內容範例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286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28600" y="3200400"/>
            <a:ext cx="64008" cy="10972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657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7A6B"/>
                </a:solidFill>
              </a:rPr>
              <a:t>智能投資分析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資產配置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情報網爪取分析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多因子模型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3200400" y="3200400"/>
            <a:ext cx="64008" cy="1097280"/>
          </a:xfrm>
          <a:prstGeom prst="rect">
            <a:avLst/>
          </a:prstGeom>
          <a:solidFill>
            <a:srgbClr val="E6A8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A820"/>
                </a:solidFill>
              </a:rPr>
              <a:t>風險評估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VaR/CVaR 計算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AI 壓力測試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異常交易偵測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320040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172200" y="3200400"/>
            <a:ext cx="64008" cy="109728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09360" y="32461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C5D"/>
                </a:solidFill>
              </a:rPr>
              <a:t>FinTech 實作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自動化報告生成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智能客服機器人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A1A"/>
                </a:solidFill>
              </a:rPr>
              <a:t>API 串接金融數據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480560"/>
            <a:ext cx="868680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✨ 提示：投資建議僅供參考，AI 無法替代專業財務顧問的判斷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  Finance Navy  |  #0F9D8A  Emerald AI Green  |  #FFC857  Highlight Yellow  |  獨立配色: #10B981 Profit Green + #D4AF37 Gold Insight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國際研究營等級品牌策略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Research Camp Brand Strategy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統一元素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55448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+ Accent + Background + 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2057400"/>
            <a:ext cx="1463040" cy="347472"/>
          </a:xfrm>
          <a:prstGeom prst="roundRect">
            <a:avLst>
              <a:gd name="adj" fmla="val 15789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變化元素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94560" y="205740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僅 Primary Color（主題識別）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2724912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651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風格一致 — 所有課程看起來是同一品牌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136392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30632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主題明確 — 每門課程都有獨立辨識度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547872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製作快速 — 只換 Primary，簡報產出速度極快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959352"/>
            <a:ext cx="128016" cy="128016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60120" y="38862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品牌清晰 — 專業度強，適合國際研究營等級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48840" y="4251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214884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永續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0" y="4251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84048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4251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53212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223760" y="4251960"/>
            <a:ext cx="1463040" cy="502920"/>
          </a:xfrm>
          <a:prstGeom prst="roundRect">
            <a:avLst>
              <a:gd name="adj" fmla="val 10909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7223760" y="4251960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Brand System  |  統一品牌 x 主題差異 = 國際研究營等級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統一品牌 vs 主題專屬配色對照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37160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0" y="777240"/>
            <a:ext cx="137160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828800" y="777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777240"/>
            <a:ext cx="118872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383280" y="777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(統一)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54880" y="777240"/>
            <a:ext cx="128016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754880" y="777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(統一)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118872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217920" y="77724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(專屬)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89520" y="777240"/>
            <a:ext cx="1371600" cy="41148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7589520" y="777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(專屬)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1188720"/>
            <a:ext cx="8686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" y="11887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論文工作坊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Paper Workshop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965960" y="12801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828800" y="12801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#0B3C5D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28800" y="16002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B7A"/>
                </a:solidFill>
              </a:rPr>
              <a:t>Deep Academic Blue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474720" y="1325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383280" y="1325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4754880" y="13258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3258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17920" y="13258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680960" y="13258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589520" y="13258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74320" y="1874520"/>
            <a:ext cx="868680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274320" y="18745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永續工作坊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Sustainability Workshop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965960" y="19659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1828800" y="1965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#2D6A4F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B7A"/>
                </a:solidFill>
              </a:rPr>
              <a:t>Forest Sustainability Green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474720" y="20116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383280" y="2011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4846320" y="20116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754880" y="20116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309360" y="20116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6217920" y="20116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680960" y="20116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7589520" y="20116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74320" y="2560320"/>
            <a:ext cx="8686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3" name="Text 41"/>
          <p:cNvSpPr/>
          <p:nvPr/>
        </p:nvSpPr>
        <p:spPr>
          <a:xfrm>
            <a:off x="274320" y="25603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通用工作坊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General Workshop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965960" y="26517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5" name="Text 43"/>
          <p:cNvSpPr/>
          <p:nvPr/>
        </p:nvSpPr>
        <p:spPr>
          <a:xfrm>
            <a:off x="1828800" y="26517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#1A2744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828800" y="2971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B7A"/>
                </a:solidFill>
              </a:rPr>
              <a:t>AI Core Blue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3474720" y="2697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3383280" y="2697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846320" y="26974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4754880" y="2697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309360" y="26974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6217920" y="2697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#7C3AED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680960" y="26974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7589520" y="2697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#06B6D4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4320" y="3246120"/>
            <a:ext cx="8686800" cy="6858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274320" y="32461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智慧製造工作坊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Smart Manufacturing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965960" y="33375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1828800" y="33375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#374151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828800" y="36576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B7A"/>
                </a:solidFill>
              </a:rPr>
              <a:t>Industrial Graphite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474720" y="33832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1" name="Text 59"/>
          <p:cNvSpPr/>
          <p:nvPr/>
        </p:nvSpPr>
        <p:spPr>
          <a:xfrm>
            <a:off x="3383280" y="3383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846320" y="33832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3" name="Text 61"/>
          <p:cNvSpPr/>
          <p:nvPr/>
        </p:nvSpPr>
        <p:spPr>
          <a:xfrm>
            <a:off x="4754880" y="33832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309360" y="33832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6217920" y="33832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#2563EB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680960" y="33832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7" name="Text 65"/>
          <p:cNvSpPr/>
          <p:nvPr/>
        </p:nvSpPr>
        <p:spPr>
          <a:xfrm>
            <a:off x="7589520" y="33832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#F59E0B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74320" y="3931920"/>
            <a:ext cx="8686800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274320" y="39319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理財工作坊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Finance Workshop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965960" y="40233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9"/>
          <p:cNvSpPr/>
          <p:nvPr/>
        </p:nvSpPr>
        <p:spPr>
          <a:xfrm>
            <a:off x="1828800" y="40233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</a:rPr>
              <a:t>#0B3C5D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1828800" y="4343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5A6B7A"/>
                </a:solidFill>
              </a:rPr>
              <a:t>Finance Navy</a:t>
            </a:r>
            <a:endParaRPr lang="en-US" sz="650" dirty="0"/>
          </a:p>
        </p:txBody>
      </p:sp>
      <p:sp>
        <p:nvSpPr>
          <p:cNvPr id="73" name="Shape 71"/>
          <p:cNvSpPr/>
          <p:nvPr/>
        </p:nvSpPr>
        <p:spPr>
          <a:xfrm>
            <a:off x="3474720" y="40690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2"/>
          <p:cNvSpPr/>
          <p:nvPr/>
        </p:nvSpPr>
        <p:spPr>
          <a:xfrm>
            <a:off x="3383280" y="4069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#0F9D8A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846320" y="4069080"/>
            <a:ext cx="109728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6" name="Text 74"/>
          <p:cNvSpPr/>
          <p:nvPr/>
        </p:nvSpPr>
        <p:spPr>
          <a:xfrm>
            <a:off x="4754880" y="40690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#FFC857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6309360" y="4069080"/>
            <a:ext cx="1005840" cy="256032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8" name="Text 76"/>
          <p:cNvSpPr/>
          <p:nvPr/>
        </p:nvSpPr>
        <p:spPr>
          <a:xfrm>
            <a:off x="6217920" y="40690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#10B981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7680960" y="4069080"/>
            <a:ext cx="1188720" cy="256032"/>
          </a:xfrm>
          <a:prstGeom prst="roundRect">
            <a:avLst>
              <a:gd name="adj" fmla="val 1428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0" name="Text 78"/>
          <p:cNvSpPr/>
          <p:nvPr/>
        </p:nvSpPr>
        <p:spPr>
          <a:xfrm>
            <a:off x="7589520" y="4069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2C3E50"/>
                </a:solidFill>
              </a:rPr>
              <a:t>#D4AF37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2" name="Text 80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建議採用「統一品牌」欄（Secondary + Accent 固定），專屬配色可作為各課程的進階延伸色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4" name="Text 82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Workshop Brand System  |  Color Comparison Reference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網站配色分析  |  cooperation.tw × AI100 × S100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749808"/>
            <a:ext cx="54864" cy="242316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822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cooperation.tw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069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母品牌官網  |  Dark Mode 科技感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389888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0C0F1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576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#0C0F14  bg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" y="173736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12161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6576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#12161E  bg2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084832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4A9E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36576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#4A9EFF  blue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432304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9B7A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4323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#9B7AFF  purple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779776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365760" y="27797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#F0F2F5  text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749808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3200400" y="749808"/>
            <a:ext cx="54864" cy="242316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822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100 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1069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通識課程  |  Dark Mode 資訊密集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1389888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333756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  bg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37560" y="173736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333756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#1E293B  card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37560" y="2084832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333756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#06B6D4  cyan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337560" y="2432304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337560" y="24323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#8B5CF6  purple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37560" y="2779776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3337560" y="27797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  amber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72200" y="749808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6172200" y="749808"/>
            <a:ext cx="54864" cy="242316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309360" y="822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 永續 100 講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106984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永續課程  |  Light Mode 自然清新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09360" y="1389888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309360" y="138988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#1B4332  deep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09360" y="1737360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6309360" y="1737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#2D6A4F  green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09360" y="2084832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1B496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6309360" y="208483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#1B4965  blue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309360" y="2432304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F9A82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6309360" y="243230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#F9A825  gold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09360" y="2779776"/>
            <a:ext cx="2468880" cy="274320"/>
          </a:xfrm>
          <a:prstGeom prst="roundRect">
            <a:avLst>
              <a:gd name="adj" fmla="val 13333"/>
            </a:avLst>
          </a:prstGeom>
          <a:solidFill>
            <a:srgbClr val="F0F7F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6309360" y="2779776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#F0F7F4  bg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28600" y="3383280"/>
            <a:ext cx="8686800" cy="36576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關鍵發現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3886200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548640" y="38221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cooperation.tw 與 AI100 都採用 Dark Mode，共享 Blue + Purple 雙色系統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4178808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548640" y="41148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 獨立採用 Light Mode，森林綠 #2D6A4F 為主色，與「AI x 永續」工作坊高度一致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4471416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548640" y="44074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AI100 的 Cyan #06B6D4 與 Amber #F59E0B → Workshop 的 Teal #0F9D8A 與 Gold #FFC857 同色域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6" name="Text 54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Color Extraction  |  cooperation.tw × ai100 × sustainability-100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 ↔ 簡報品牌對齊  |  微調後結果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46304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777240"/>
            <a:ext cx="137160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737360" y="777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網站主色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777240"/>
            <a:ext cx="45720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566160" y="777240"/>
            <a:ext cx="128016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566160" y="7772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777240"/>
            <a:ext cx="137160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846320" y="777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主色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777240"/>
            <a:ext cx="2743200" cy="36576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217920" y="777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對齊說明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143000"/>
            <a:ext cx="8686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74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cooperation.tw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74520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0C0F1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187452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#0C0F14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108960" y="1143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8A"/>
                </a:solidFill>
              </a:rPr>
              <a:t>↔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66160" y="1143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論文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83480" y="123444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98348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#0B3C5D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217920" y="1143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深色域共鳴，論文偏藍、官網偏黑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1691640"/>
            <a:ext cx="86868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274320" y="16916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AI100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74520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187452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#0F172A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108960" y="16916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8A"/>
                </a:solidFill>
              </a:rPr>
              <a:t>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66160" y="16916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通用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983480" y="178308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98348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#1A2744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217920" y="16916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微調後 #1A2744 與 AI100 #0F172A 同色域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2240280"/>
            <a:ext cx="8686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274320" y="2240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874520" y="2331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187452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#2D6A4F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108960" y="22402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8A"/>
                </a:solidFill>
              </a:rPr>
              <a:t>=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566160" y="22402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永續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983480" y="233172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498348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#2D6A4F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217920" y="2240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完美對齊！微調後 #2D6A4F 完全一致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2788920"/>
            <a:ext cx="8686800" cy="54864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274320" y="2788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(無對應網站)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874520" y="288036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1874520" y="2880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#6B7280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108960" y="2788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8A"/>
                </a:solidFill>
              </a:rPr>
              <a:t>—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3566160" y="2788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製造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83480" y="288036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4983480" y="28803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#374151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217920" y="2788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Graphite 獨立識別色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337560"/>
            <a:ext cx="86868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274320" y="33375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(無對應網站)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874520" y="342900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187452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#6B7280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108960" y="33375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9D8A"/>
                </a:solidFill>
              </a:rPr>
              <a:t>—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566160" y="3337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理財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83480" y="3429000"/>
            <a:ext cx="1097280" cy="228600"/>
          </a:xfrm>
          <a:prstGeom prst="roundRect">
            <a:avLst>
              <a:gd name="adj" fmla="val 16000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9" name="Text 57"/>
          <p:cNvSpPr/>
          <p:nvPr/>
        </p:nvSpPr>
        <p:spPr>
          <a:xfrm>
            <a:off x="4983480" y="34290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</a:rPr>
              <a:t>#0B3C5D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17920" y="33375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與論文共用 Finance Navy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28600" y="3840480"/>
            <a:ext cx="8686800" cy="36576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2" name="Text 60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共享色域：網站 ↔ Workshop 的橋接色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320040" y="4343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/ Teal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5" name="Text 63"/>
          <p:cNvSpPr/>
          <p:nvPr/>
        </p:nvSpPr>
        <p:spPr>
          <a:xfrm>
            <a:off x="320040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AI100 Cyan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1234440" y="45720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→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417320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8" name="Text 66"/>
          <p:cNvSpPr/>
          <p:nvPr/>
        </p:nvSpPr>
        <p:spPr>
          <a:xfrm>
            <a:off x="1417320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Workshop Teal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2496312" y="4343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/ Gold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2496312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1" name="Text 69"/>
          <p:cNvSpPr/>
          <p:nvPr/>
        </p:nvSpPr>
        <p:spPr>
          <a:xfrm>
            <a:off x="2496312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C3E50"/>
                </a:solidFill>
              </a:rPr>
              <a:t>AI100 Amber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3410712" y="45720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→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3593592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4" name="Text 72"/>
          <p:cNvSpPr/>
          <p:nvPr/>
        </p:nvSpPr>
        <p:spPr>
          <a:xfrm>
            <a:off x="3593592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2C3E50"/>
                </a:solidFill>
              </a:rPr>
              <a:t>Workshop Gold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4672584" y="4343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Green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672584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7" name="Text 75"/>
          <p:cNvSpPr/>
          <p:nvPr/>
        </p:nvSpPr>
        <p:spPr>
          <a:xfrm>
            <a:off x="4672584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S100 Green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5586984" y="45720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→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5769864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0" name="Text 78"/>
          <p:cNvSpPr/>
          <p:nvPr/>
        </p:nvSpPr>
        <p:spPr>
          <a:xfrm>
            <a:off x="5769864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永續 Primary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848856" y="43434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Dark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848856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3" name="Text 81"/>
          <p:cNvSpPr/>
          <p:nvPr/>
        </p:nvSpPr>
        <p:spPr>
          <a:xfrm>
            <a:off x="6848856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AI100 Deep</a:t>
            </a:r>
            <a:endParaRPr lang="en-US" sz="650" dirty="0"/>
          </a:p>
        </p:txBody>
      </p:sp>
      <p:sp>
        <p:nvSpPr>
          <p:cNvPr id="84" name="Text 82"/>
          <p:cNvSpPr/>
          <p:nvPr/>
        </p:nvSpPr>
        <p:spPr>
          <a:xfrm>
            <a:off x="7763256" y="45720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→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946136" y="457200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6" name="Text 84"/>
          <p:cNvSpPr/>
          <p:nvPr/>
        </p:nvSpPr>
        <p:spPr>
          <a:xfrm>
            <a:off x="7946136" y="4572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FFFFFF"/>
                </a:solidFill>
              </a:rPr>
              <a:t>通用 Primary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8" name="Text 86"/>
          <p:cNvSpPr/>
          <p:nvPr/>
        </p:nvSpPr>
        <p:spPr>
          <a:xfrm>
            <a:off x="365760" y="4937760"/>
            <a:ext cx="841248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↔ Workshop Alignment  |  微調後結果：AI 通用 #1A2744 + AI 永續 #2D6A4F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兩層品牌架構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網站 (Dark Mode)  ×  Layer 2: 簡報/教材 (Light/Dark 混合)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12161E"/>
          </a:solidFill>
          <a:ln w="1905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網站品牌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科技感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C0F1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54864" cy="411480"/>
          </a:xfrm>
          <a:prstGeom prst="rect">
            <a:avLst/>
          </a:prstGeom>
          <a:solidFill>
            <a:srgbClr val="4A9E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cooperation.tw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26080" y="2148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#0C0F14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40080" y="269748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40080" y="2697480"/>
            <a:ext cx="54864" cy="41148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100 講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2697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#0F172A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40080" y="3246120"/>
            <a:ext cx="3474720" cy="41148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54864" cy="411480"/>
          </a:xfrm>
          <a:prstGeom prst="rect">
            <a:avLst/>
          </a:prstGeom>
          <a:solidFill>
            <a:srgbClr val="F9A82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22960" y="32461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S100 永續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3246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#2D6A4F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976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C857"/>
                </a:solidFill>
              </a:rPr>
              <a:t>↔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160520" y="27432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共享色域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3931920" cy="2560320"/>
          </a:xfrm>
          <a:prstGeom prst="roundRect">
            <a:avLst>
              <a:gd name="adj" fmla="val 3571"/>
            </a:avLst>
          </a:prstGeom>
          <a:solidFill>
            <a:srgbClr val="F5F7FA"/>
          </a:solidFill>
          <a:ln w="19050">
            <a:solidFill>
              <a:srgbClr val="0F9D8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29200" y="1508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簡報/教材品牌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只換 Primary，其他統一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2103120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257800" y="2103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論文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0" y="21031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20640" y="2450592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2D6A4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257800" y="24505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永續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0" y="245059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#2D6A4F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120640" y="2798064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1A274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257800" y="27980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通用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315200" y="279806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#1A2744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120640" y="3145536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257800" y="314553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製造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314553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#374151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120640" y="3493008"/>
            <a:ext cx="3474720" cy="27432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257800" y="3493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x 理財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3493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D4F0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#0B3C5D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251960"/>
            <a:ext cx="8412480" cy="411480"/>
          </a:xfrm>
          <a:prstGeom prst="rect">
            <a:avLst/>
          </a:prstGeom>
          <a:solidFill>
            <a:srgbClr val="181D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02920" y="425196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統一元素：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508760" y="432511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1508760" y="4325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#0F9D8A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337560" y="432511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3337560" y="4325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#FFC857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166360" y="432511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5166360" y="4325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 #F5F7FA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95160" y="4325112"/>
            <a:ext cx="1645920" cy="256032"/>
          </a:xfrm>
          <a:prstGeom prst="roundRect">
            <a:avLst>
              <a:gd name="adj" fmla="val 1428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0" name="Text 48"/>
          <p:cNvSpPr/>
          <p:nvPr/>
        </p:nvSpPr>
        <p:spPr>
          <a:xfrm>
            <a:off x="6995160" y="4325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#1A1A1A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C0F14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Shape 50"/>
          <p:cNvSpPr/>
          <p:nvPr/>
        </p:nvSpPr>
        <p:spPr>
          <a:xfrm>
            <a:off x="274320" y="4992624"/>
            <a:ext cx="91440" cy="9144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3" name="Text 51"/>
          <p:cNvSpPr/>
          <p:nvPr/>
        </p:nvSpPr>
        <p:spPr>
          <a:xfrm>
            <a:off x="502920" y="4937760"/>
            <a:ext cx="836676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Brand Architecture  |  cooperation.tw × AI Workshop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1202</Words>
  <Application>Microsoft Macintosh PowerPoint</Application>
  <PresentationFormat>如螢幕大小 (16:9)</PresentationFormat>
  <Paragraphs>334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Workshop Brand System</dc:title>
  <dc:subject>PptxGenJS Presentation</dc:subject>
  <dc:creator>PptxGenJS</dc:creator>
  <cp:lastModifiedBy>D11351004</cp:lastModifiedBy>
  <cp:revision>1</cp:revision>
  <dcterms:created xsi:type="dcterms:W3CDTF">2026-03-07T03:43:24Z</dcterms:created>
  <dcterms:modified xsi:type="dcterms:W3CDTF">2026-03-07T03:48:12Z</dcterms:modified>
</cp:coreProperties>
</file>