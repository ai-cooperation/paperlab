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400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Paper Workshop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AI 學術研究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全流程工作坊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C857"/>
                </a:solidFill>
              </a:rPr>
              <a:t>從概念探索到論文投稿的完整 AI 協作工作流程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1  L1D2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134B6E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2  L2D1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E6A82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A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Agents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754880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Smart Manufacturing Research Application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4206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cooperation.tw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完整 AI 研究工作流程總覽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概念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探索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96696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96696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6696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文獻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調研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82496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64792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64792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64792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研究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0592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32888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32888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2888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論文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架構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18688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00984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00984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實驗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設計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86784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9080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69080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9080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實驗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執行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37176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37176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7176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數據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22976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05272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05272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05272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論文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撰寫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73368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73368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73368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品質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審查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9168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41464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141464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41464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投稿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準備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27264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09560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909560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09560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審稿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回覆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" y="2103120"/>
            <a:ext cx="2304288" cy="274320"/>
          </a:xfrm>
          <a:prstGeom prst="rect">
            <a:avLst/>
          </a:prstGeom>
          <a:solidFill>
            <a:srgbClr val="0F9D8A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" y="210312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Day 1 範圍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88336" y="2103120"/>
            <a:ext cx="6227064" cy="274320"/>
          </a:xfrm>
          <a:prstGeom prst="rect">
            <a:avLst/>
          </a:prstGeom>
          <a:solidFill>
            <a:srgbClr val="134B6E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688336" y="2103120"/>
            <a:ext cx="6227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</a:rPr>
              <a:t>Day 2 範圍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28600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Claude Chat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Extended Thinking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96696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CrossRef API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Semantic Scholar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OpenAlex API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764792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innovation-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positioning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journal-fit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532888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IMRaD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QMD + YAML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300984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experiment-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tracker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069080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GPU Monitor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TG Bot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37176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stats-validator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evidence-indexer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605272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paper-writer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academic-writing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373368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paper-review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mvp-gatekeeper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141464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submission-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bundle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909560" y="2560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rebuttal-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A6B7A"/>
                </a:solidFill>
              </a:rPr>
              <a:t>matrix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28600" y="3840480"/>
            <a:ext cx="868680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64" name="Text 62"/>
          <p:cNvSpPr/>
          <p:nvPr/>
        </p:nvSpPr>
        <p:spPr>
          <a:xfrm>
            <a:off x="338328" y="3840480"/>
            <a:ext cx="8467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AI 參與度 70-75%  |  24 Skills + 8 Agents + 5 Commands + 5 APIs  |  真實案例：NILM+LLM 論文 (SETA)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兩天課程議程規劃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1 | AI 研究基礎 (L1D2)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984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09:00-09:30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2984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開場：AI 正在重塑學術研究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4114800" cy="4572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01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09:30-10:45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801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S1：AI 概念探索與研究方向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042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11:00-12:00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3042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S2 前半：文獻查找 + API 驗證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07208"/>
            <a:ext cx="4114800" cy="4572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072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13:00-14:30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8072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S2 後半：文獻系統化 + Research Gap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101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14:45-16:00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310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自動化工具入門 + 實作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13048"/>
            <a:ext cx="4114800" cy="4572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813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16:00-17:00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8130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Day 1 回顧與明日預告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134B6E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2 | AI 研究進階 (L2D1)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298448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2984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B6E"/>
                </a:solidFill>
              </a:rPr>
              <a:t>09:00-09:20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12984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Day 1 回顧 + 中階概念導入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755648"/>
            <a:ext cx="4114800" cy="420624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7556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B6E"/>
                </a:solidFill>
              </a:rPr>
              <a:t>09:20-10:45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17556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S3：論文架構 + 實驗規劃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212848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2128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B6E"/>
                </a:solidFill>
              </a:rPr>
              <a:t>11:00-12:00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22128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數據彙整 + 可重現性設計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670048"/>
            <a:ext cx="4114800" cy="420624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6700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B6E"/>
                </a:solidFill>
              </a:rPr>
              <a:t>13:00-14:15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26700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S4：QMD + BibTeX 論文撰寫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127248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1272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B6E"/>
                </a:solidFill>
              </a:rPr>
              <a:t>14:15-14:45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31272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Claude Code 自動化工作流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584448"/>
            <a:ext cx="4114800" cy="420624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5844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B6E"/>
                </a:solidFill>
              </a:rPr>
              <a:t>15:00-16:30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35844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S5：品質保證 + 投稿策略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4041648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40416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B6E"/>
                </a:solidFill>
              </a:rPr>
              <a:t>16:30-17:30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40416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總結與下一步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" y="44348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講述 46% | Demo 27% | 實作 27%  —  完整走過 11 個 Phase，結業帶走 research-workspace.zip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 研究基礎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從概念到文獻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L1D2 初階進階 | AI 是「聰明的助教」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為什麼需要 AI 輔助學術研究？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105156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痛點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639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文獻海量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每年 300 萬篇新論文，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人工篩選耗時耗力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6052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64008" cy="1051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98755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AI 解方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文獻篩選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API 驗證 + 語義比對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30 秒評估一篇論文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48840"/>
            <a:ext cx="64008" cy="105156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2199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痛點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2496312"/>
            <a:ext cx="3639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寫作瓶頸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英文非母語，學術風格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難掌握，改稿反覆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6052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48840"/>
            <a:ext cx="64008" cy="1051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219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AI 解方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496312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寫作助手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學術風格指導 + 潤稿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結構化撰寫流程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83280"/>
            <a:ext cx="64008" cy="105156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45643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痛點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730752"/>
            <a:ext cx="3639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品質不一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引用錯誤、數據不一致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投稿被 desk reject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6052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➡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63440" y="33832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383280"/>
            <a:ext cx="64008" cy="1051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4564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AI 解方 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730752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品質審查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七維度評分 + P0-P3 分級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多 AI 平行審查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 概念探索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與研究方向確定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Phase 1 | 75 分鐘 | Prompt 工程 + 多輪對話 + 方向確認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研究 Prompt 工程：CARE 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868680"/>
            <a:ext cx="822960" cy="8229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</a:rPr>
              <a:t>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48840"/>
            <a:ext cx="201168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提供研究背景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「我在研究工業 NILM，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使用 CNN 方法...」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868680"/>
            <a:ext cx="822960" cy="82296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</a:rPr>
              <a:t>Action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148840"/>
            <a:ext cx="201168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240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明確任務指令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「請分析 2020-2025 年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該領域的 research gap」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868680"/>
            <a:ext cx="822960" cy="822960"/>
          </a:xfrm>
          <a:prstGeom prst="ellipse">
            <a:avLst/>
          </a:prstGeom>
          <a:solidFill>
            <a:srgbClr val="E6A820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63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20"/>
                </a:solidFill>
              </a:rPr>
              <a:t>Role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48840"/>
            <a:ext cx="201168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240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指定 AI 角色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「你是 Energy &amp; Buildings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的資深審稿人」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868680"/>
            <a:ext cx="822960" cy="822960"/>
          </a:xfrm>
          <a:prstGeom prst="ellipse">
            <a:avLst/>
          </a:prstGeom>
          <a:solidFill>
            <a:srgbClr val="0A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6B"/>
                </a:solidFill>
              </a:rPr>
              <a:t>Example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2148840"/>
            <a:ext cx="2011680" cy="54864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2240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給出範例格式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「請用表格列出：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論文/方法/數據集/F1」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7490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5 套研究專用模板：領域掃描 | Research Gap | 可行性分析 | 創新性定位 | 研究問題精煉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多輪對話策略：漸進式縮焦法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686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8686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「智慧製造有哪些 AI 應用方向？」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527048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52704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5270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「NILM 目前有哪些深度學習方法？」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2185416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218541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18541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「低採樣率 NILM 有什麼尚未解決的問題？」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843784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284378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8437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「Training-free NILM 可行嗎？有沒有相關研究？」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502152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4680" y="3502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35021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「LLM + NILM 作為 training-free 方案的創新性？」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2519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Extended Thinking 指令：think (標準) | think hard (深度) | ultrathink (極限)  ——  複雜問題用更深的推理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真實案例：NILM+LLM 的概念探索歷程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1627632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024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024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78308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9456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領域掃描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工業能源管理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AI 應用全景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65376" y="18745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914400"/>
            <a:ext cx="1627632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024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024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48256" y="178308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219456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聚焦 NILM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非侵入式負載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識別技術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0168" y="18745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914400"/>
            <a:ext cx="1627632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024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024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13048" y="178308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219456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發現 Gap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低採樣率場景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缺乏解方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18745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22976" y="914400"/>
            <a:ext cx="1627632" cy="2377440"/>
          </a:xfrm>
          <a:prstGeom prst="rect">
            <a:avLst/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1024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16752" y="1024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4B6E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178308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19456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創新假設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LLM 知識遷移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取代 training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9752" y="18745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914400"/>
            <a:ext cx="1627632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81544" y="1024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81544" y="1024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42632" y="178308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219456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三大貢獻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確立論文定位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鎖定期刊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20440"/>
            <a:ext cx="64008" cy="9144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5935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C1: Training-Free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" y="386791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首次提出 LLM 驅動的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免訓練 NILM 框架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35204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3520440"/>
            <a:ext cx="64008" cy="9144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35935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C2: Prompt Engineering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37560" y="386791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設計工業設備專用的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結構化 Prompt 範本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35204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3520440"/>
            <a:ext cx="64008" cy="91440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5935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C3: Multi-Dataset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86791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跨三個數據集驗證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9 類設備 F1=0.85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 輔助文獻調研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核心環節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Phase 2-3 | 文獻正確性是本課程的核心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種子 DOI 生成：用 AI 產出候選文獻清單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194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Prompt 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389534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 NILM (Non-Intrusive Load Monitoring)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領域的資深研究者。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請列出以下三個方向近 5 年最重要的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篇論文，包含 DOI：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深度學習 NILM 方法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低採樣率 NILM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LLM 在能源領域的應用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2194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AI 產出範例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133856"/>
            <a:ext cx="389534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Kelly &amp; Knottenbelt (2015)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DOI: 10.1145/2821650.2821672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Neural NILM: Deep Neural Networks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Zhang et al. (2018)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DOI: 10.1109/TSG.2017.2743342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Sequence-to-Point Learning...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[更多候選文獻...]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859536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3200400"/>
            <a:ext cx="73152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AI 產出的 DOI 不能直接信任！必須經過 API 驗證。AI 可能產出：不存在的 DOI、錯誤的作者/年份、虛構的論文。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02336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40233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三層搜索策略：Google Scholar → ArXiv/IEEE Xplore → Citation Graph (forward + backward)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多重 API 驗證流程（文獻正確性的核心）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68680"/>
            <a:ext cx="2068830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297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CrossRef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DOI 存在性驗證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正式 metadata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(title/author/year)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657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4590" y="868680"/>
            <a:ext cx="2068830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896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4896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8945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Semantic Scholar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774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Abstract 擷取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引用數統計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領域分類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1256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0580" y="868680"/>
            <a:ext cx="2068830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495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5495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544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OpenAlex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373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OA 狀態查詢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機構資訊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Concepts 標籤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1855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46570" y="868680"/>
            <a:ext cx="2068830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6094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6094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143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語義比對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972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Abstract 相關性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1-5 分評分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標記引用位置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703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07A3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產出 DOI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3703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09928" y="3703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709928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CrossRef 驗證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90088" y="3703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45536" y="3703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145536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Semantic Scholar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25696" y="3703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81144" y="3703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81144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OpenAlex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61304" y="3703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16752" y="3703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16752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AI 評分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96912" y="3703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▸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52360" y="3703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52360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Zotero 匯入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" y="42519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案例：NILM+LLM 論文 43 篇引用全部經 CrossRef 驗證，發現 2 篇 AI 虛構 DOI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實戰示範：curl 一行驗證 DOI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CrossRef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26151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"https://api.crossref.org/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works/10.1016/j.seta.2020.100921"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"Industrial NILM...",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[{"given":"..."}],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"published": {"date-parts":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[[2020,12]]}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283464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87782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Semantic Scholar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1568" y="1133856"/>
            <a:ext cx="26151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"https://api.semantic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scholar.org/graph/v1/paper/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DOI:10.1016/j.seta.2020...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?fields=abstract,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citationCount"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"abstract": "This paper...",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"citationCount": 42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822960"/>
            <a:ext cx="256032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9088" y="8778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OpenAlex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1133856"/>
            <a:ext cx="234086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"https://api.openalex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.org/works/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doi:10.1016/..."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"is_oa": true,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"concepts": [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{"display_name":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"NILM"}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34670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Python 批次驗證腳本 (概念)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602736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doi in seed_dois: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requests.get(f"https://api.crossref.org/works/{doi}")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r.status_code == 200: verified.append(doi)  # DOI exists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rejected.append(doi)                      # DOI invalid!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44348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免費、無需 API Key、每秒可查 50 次 — 驗證 100 篇文獻只需 2 秒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批次匯入 Zotero：四種方法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9601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Magic Wand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在 Zotero 工具列貼上 DOI 清單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自動取得完整 metadata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最簡單、適合少量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86868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Zotero Connector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1965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瀏覽器擴充套件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在 Google Scholar 頁面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一鍵批次儲存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9601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BibTeX 匯入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匯入 references.bib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保留所有欄位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適合已有 BibTeX 的情況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86868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9601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Zotero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程式化匯入 (pyzotero)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大量文獻自動化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 50+ 篇的情境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65760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推薦組合：API 驗證 DOI → BibTeX 匯出 → Zotero 匯入 → 自動抓 PDF + metadata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</a:rPr>
              <a:t>Zotero 是免費、開源的文獻管理工具，支援 Word/Google Docs/LaTeX/QMD 引用插入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文獻整理系統：AI 筆記轉換工作流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68680"/>
            <a:ext cx="2068830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297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PDF 取得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Zotero 自動下載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或手動上傳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建立文獻庫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657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4590" y="868680"/>
            <a:ext cx="2068830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896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4896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8945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結構化摘要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774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Claude 閱讀 PDF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擷取核心貢獻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方法/數據/結果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1256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0580" y="868680"/>
            <a:ext cx="2068830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495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5495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544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Obsidian 筆記卡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373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YAML frontmatter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雙向連結 [[link]]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標記引用位置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1855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46570" y="868680"/>
            <a:ext cx="2068830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6094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6094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143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知識圖譜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972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Graph View 視覺化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主題聚類分析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發現研究缺口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74720"/>
            <a:ext cx="64008" cy="1188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4787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AI 30 秒評估一篇論文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822192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五維度快速評估：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相關性 (與我研究的關聯)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新穎性 (方法是否新穎)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影響力 (引用數 + 期刊等級)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可比較性 (能否做 baseline)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引用價值 (放在哪個章節)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4747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474720"/>
            <a:ext cx="64008" cy="11887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5478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literature-synthesis Skill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82219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自動觸發：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文獻分類矩陣建立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Research Gap 識別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Related Work 段落撰寫建議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/analyze-literature command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文獻筆記卡 + Obsidian 知識圖譜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291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Obsidian 筆記卡範例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389534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[NILM, training-free]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doi: "10.1016/j.seta.2020.100921"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2021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relevance: 4/5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cite_in: [Introduction, Related Work]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Eskander2021 - Industrial NILM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Core Contribution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首篇工業 NILM 綜述...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Link to My Research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支撐 C1 -&gt; [[Research_Gap]]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Related Papers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[[Hart1992]] [[Kelly2015]]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3291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Obsidian Graph 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463040"/>
            <a:ext cx="548640" cy="548640"/>
          </a:xfrm>
          <a:prstGeom prst="ellipse">
            <a:avLst/>
          </a:prstGeom>
          <a:solidFill>
            <a:srgbClr val="0F9D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1992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0F9D8A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Kelly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2015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486400" y="2286000"/>
            <a:ext cx="457200" cy="457200"/>
          </a:xfrm>
          <a:prstGeom prst="ellipse">
            <a:avLst/>
          </a:prstGeom>
          <a:solidFill>
            <a:srgbClr val="0A7A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Zhang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2018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583680" y="2377440"/>
            <a:ext cx="731520" cy="731520"/>
          </a:xfrm>
          <a:prstGeom prst="ellipse">
            <a:avLst/>
          </a:prstGeom>
          <a:solidFill>
            <a:srgbClr val="FFC857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Research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772400" y="2194560"/>
            <a:ext cx="512064" cy="512064"/>
          </a:xfrm>
          <a:prstGeom prst="ellipse">
            <a:avLst/>
          </a:prstGeom>
          <a:solidFill>
            <a:srgbClr val="0A7A6B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Esk.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402336" cy="402336"/>
          </a:xfrm>
          <a:prstGeom prst="ellipse">
            <a:avLst/>
          </a:prstGeom>
          <a:solidFill>
            <a:srgbClr val="E6A82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108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LLM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NILM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498080" y="3017520"/>
            <a:ext cx="457200" cy="457200"/>
          </a:xfrm>
          <a:prstGeom prst="ellipse">
            <a:avLst/>
          </a:prstGeom>
          <a:solidFill>
            <a:srgbClr val="134B6E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GPT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Energy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846320" y="3520440"/>
            <a:ext cx="164592" cy="16459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4930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節點 = 文獻卡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377647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749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連線 = [[雙向連結]]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4032504"/>
            <a:ext cx="164592" cy="164592"/>
          </a:xfrm>
          <a:prstGeom prst="ellipse">
            <a:avLst/>
          </a:prstGeom>
          <a:solidFill>
            <a:srgbClr val="0A7A6B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40050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聚類 = 主題群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4288536"/>
            <a:ext cx="164592" cy="164592"/>
          </a:xfrm>
          <a:prstGeom prst="ellipse">
            <a:avLst/>
          </a:prstGeom>
          <a:solidFill>
            <a:srgbClr val="5A6B7A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42611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孤立 = 可能遺漏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Abstract 捕捉技術：5 維度快速評估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645920" cy="4572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相關性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30%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與我研究主題的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直接關聯程度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1371600" cy="2286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834640"/>
            <a:ext cx="973669" cy="228600"/>
          </a:xfrm>
          <a:prstGeom prst="rect">
            <a:avLst/>
          </a:prstGeom>
          <a:solidFill>
            <a:srgbClr val="0F9D8A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1   2   3   4   5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29968" y="868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868680"/>
            <a:ext cx="1645920" cy="4572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5" name="Text 13"/>
          <p:cNvSpPr/>
          <p:nvPr/>
        </p:nvSpPr>
        <p:spPr>
          <a:xfrm>
            <a:off x="2029968" y="868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新穎性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29968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20%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21408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方法或觀點的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原創性與新穎度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67128" y="2834640"/>
            <a:ext cx="1371600" cy="2286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2167128" y="2834640"/>
            <a:ext cx="903799" cy="228600"/>
          </a:xfrm>
          <a:prstGeom prst="rect">
            <a:avLst/>
          </a:prstGeom>
          <a:solidFill>
            <a:srgbClr val="0B3C5D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167128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1   2   3   4   5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85616" y="868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85616" y="868680"/>
            <a:ext cx="1645920" cy="45720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3" name="Text 21"/>
          <p:cNvSpPr/>
          <p:nvPr/>
        </p:nvSpPr>
        <p:spPr>
          <a:xfrm>
            <a:off x="3785616" y="868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影響力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85616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20%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77056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引用數、期刊等級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H-index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22776" y="2834640"/>
            <a:ext cx="1371600" cy="2286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7" name="Shape 25"/>
          <p:cNvSpPr/>
          <p:nvPr/>
        </p:nvSpPr>
        <p:spPr>
          <a:xfrm>
            <a:off x="3922776" y="2834640"/>
            <a:ext cx="1287633" cy="228600"/>
          </a:xfrm>
          <a:prstGeom prst="rect">
            <a:avLst/>
          </a:prstGeom>
          <a:solidFill>
            <a:srgbClr val="0A7A6B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922776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1   2   3   4   5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41264" y="868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41264" y="868680"/>
            <a:ext cx="1645920" cy="45720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31" name="Text 29"/>
          <p:cNvSpPr/>
          <p:nvPr/>
        </p:nvSpPr>
        <p:spPr>
          <a:xfrm>
            <a:off x="5541264" y="868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可比較性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41264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15%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632704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能否作為 baseline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或 benchmark 使用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78424" y="2834640"/>
            <a:ext cx="1371600" cy="2286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5" name="Shape 33"/>
          <p:cNvSpPr/>
          <p:nvPr/>
        </p:nvSpPr>
        <p:spPr>
          <a:xfrm>
            <a:off x="5678424" y="2834640"/>
            <a:ext cx="1362513" cy="228600"/>
          </a:xfrm>
          <a:prstGeom prst="rect">
            <a:avLst/>
          </a:prstGeom>
          <a:solidFill>
            <a:srgbClr val="E6A820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678424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1   2   3   4   5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96912" y="868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96912" y="868680"/>
            <a:ext cx="1645920" cy="457200"/>
          </a:xfrm>
          <a:prstGeom prst="rect">
            <a:avLst/>
          </a:prstGeom>
          <a:solidFill>
            <a:srgbClr val="134B6E"/>
          </a:solidFill>
          <a:ln/>
        </p:spPr>
      </p:sp>
      <p:sp>
        <p:nvSpPr>
          <p:cNvPr id="39" name="Text 37"/>
          <p:cNvSpPr/>
          <p:nvPr/>
        </p:nvSpPr>
        <p:spPr>
          <a:xfrm>
            <a:off x="7296912" y="868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引用價值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96912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4B6E"/>
                </a:solidFill>
              </a:rPr>
              <a:t>15%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388352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適合放在論文的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哪個章節引用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34072" y="2834640"/>
            <a:ext cx="1371600" cy="2286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3" name="Shape 41"/>
          <p:cNvSpPr/>
          <p:nvPr/>
        </p:nvSpPr>
        <p:spPr>
          <a:xfrm>
            <a:off x="7434072" y="2834640"/>
            <a:ext cx="1036160" cy="228600"/>
          </a:xfrm>
          <a:prstGeom prst="rect">
            <a:avLst/>
          </a:prstGeom>
          <a:solidFill>
            <a:srgbClr val="134B6E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34072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1   2   3   4   5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7033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37033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Claude 閱讀 PDF → 30 秒產出結構化摘要 + 5 維度評分 → 快速決定 keep / skip / deeper read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BibTeX 引用管理 + bib-manager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103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references.bib 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38953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@article{chen2026nilm,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 = {Training-Free Industrial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NILM via LLM},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 = {Chen, Chung-Kuang and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Wu, Chia-Hung},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journal= {Sustainable Energy 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and Assessments},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 = {2026},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doi    = {10.1016/j.seta...}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64008" cy="21031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bib-manager Skill 防呆機制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170432"/>
            <a:ext cx="4005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重複條目偵測 — 相同 DOI 或 title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格式一致性 — field 命名、縮排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幽靈引用警告 — .bib 有但論文沒引用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遺漏引用 — 論文用了但 .bib 沒有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CrossRef 交叉驗證 — 比對年份/作者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案例：43 篇引用，發現 3 個格式問題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8595360" cy="594360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3154680"/>
            <a:ext cx="73152" cy="59436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54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0"/>
                </a:solidFill>
              </a:rPr>
              <a:t>黃金規則：絕不添加 references.bib 中不存在的引用 — AI 要引用，必須先驗證 DOI、新增到 .bib、再引用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931920"/>
            <a:ext cx="64008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00507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QMD 引用格式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27939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單引用：@chen2026nilm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多引用：[@chen2026nilm; @kelly2015]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93192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931920"/>
            <a:ext cx="64008" cy="82296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40050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6B"/>
                </a:solidFill>
              </a:rPr>
              <a:t>CSL 樣式切換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427939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Elsevier: elsevier-vancouver-author-date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IEEE: ieee.csl  |  APA: apa.csl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Gap 識別 + Literature Synthesis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8686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現有方法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8686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CNN/RNN/Transformer 需要大量標註數據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監督式學習為主流，佔 NILM 研究 85%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1828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已知限制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工業場景標註成本高（$5K-50K/設備）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低採樣率 (1Hz) 資訊量不足、模型泛化差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278892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788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研究機會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788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Training-free NILM: 利用 LLM 世界知識取代訓練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= 本論文的核心貢獻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794760"/>
            <a:ext cx="64008" cy="9144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8679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literature-synthesis Skill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14223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自動觸發詞：「文獻回顧」「research gap」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建立文獻分類矩陣 (方法 x 數據集 x 指標)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識別 Gap → 生成 Related Work 結構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7947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794760"/>
            <a:ext cx="64008" cy="9144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8679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/analyze-literature Command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4223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一鍵啟動文獻分析工作流：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輸入主題關鍵詞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輸出 Gap 分析 + 文獻矩陣 + 建議結構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創新性定位 + 期刊匹配 (Phase 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4630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innovation-positioning Skill 三層框架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Layer 1: 技術創新 — 新方法/新架構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Layer 2: 應用創新 — 新場景/新數據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Layer 3: 整合創新 — 跨域結合 (LLM+NILM)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避免陷阱：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"Inspired by..." / "We improve..." →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容易被定位為「應用研究」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維度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權重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內容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Scope 契合度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Aims &amp; Scope 重疊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Impact Factor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JCR + CiteScore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主編研究偏好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主編領域、發表傾向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近期收錄主題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近 2 年 topic clustering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審稿週期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First Decision 時間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OA / APC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費用與 OA 選項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4747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34747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案例：10 期刊加權評分 → Applied Energy (91) &gt; IEEE TII (89) → 最終選擇 SETA (Scope 最佳匹配)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40233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4023360"/>
            <a:ext cx="64008" cy="7315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40965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journal-fit Skill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437083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輸入研究主題 → 輸出期刊推薦 + 加權評分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含 desk-reject 風險評估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402336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4023360"/>
            <a:ext cx="64008" cy="73152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40965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主編分析 (關鍵新增)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0600" y="43708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Google Scholar 查主編 + Editorial 分析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新主編上任 → 更開放 | Special Issue → 高契合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自動化工具入門：Google Apps Script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2860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批次 PDF 分析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254203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Google Drive 上傳 PDF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Apps Script 觸發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Claude API 擷取摘要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Google Sheet 彙整結果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64008" cy="22860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8961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文獻追蹤通知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54203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設定排程 (每週一次)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Semantic Scholar API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查詢新引用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Email / Telegram 通知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新的引用你的論文！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22960"/>
            <a:ext cx="64008" cy="228600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8961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引用格式轉換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170432"/>
            <a:ext cx="254203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Google Sheet 文獻清單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CrossRef API 取 metadata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自動生成 BibTeX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匯出 references.bib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2918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Google Apps Script = Google 版的巨集，可串接所有 Google 服務 + 外部 API — 免費、無需伺服器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89534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GAS 快速上手 (5 行搞定)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151376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analyzePDF() {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file = DriveApp.getFileById("FILE_ID");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UrlFetchApp.fetch("https://api.anthropic.com/v1/messages", options);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SpreadsheetApp.getActive().getSheetByName("Results").appendRow([file.getName(), JSON.parse(response)]);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 Code 初體驗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6459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CLAUDE.md = "AI 的工作手冊"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2542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定義 AI 的行為規範：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引用處理原則（最高優先）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檔案操作原則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驗證原則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專案目錄結構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64008" cy="16459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8961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Skills / Agents / Commands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542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Skills (24 個)：專業知識庫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自動觸發，無需記指令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Agents (8 個)：AI 專家團隊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各有獨立 context + 權限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Commands (5 個)：一鍵工作流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22960"/>
            <a:ext cx="64008" cy="164592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8961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CLI 基本操作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170432"/>
            <a:ext cx="2542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安裝：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npm i -g @anthropic-ai/claude-code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啟動：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cd ~/research-project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claude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即可在專案中對話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270662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Demo：用 Claude Code 批次驗證 DOI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962656"/>
            <a:ext cx="83759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請幫我驗證 seed_dois.txt 中所有 DOI 的正確性，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使用 CrossRef API 檢查每個 DOI 是否存在，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並比對 AI 產出的作者/年份是否與 CrossRef 回傳的一致。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將結果整理成表格：DOI | 狀態 | AI作者 | 實際作者 | 匹配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Claude Code 自動寫 Python 腳本 → 執行 → 回報結果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2062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Day 2 將深入 Claude Code：CLAUDE.md 撰寫 + Skills 系統 + Agents 協作 + Commands 工作流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實作練習 &amp; 回顧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7432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實作任務清單 (30 分鐘)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9136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1. 用 CARE 框架寫 3 個研究 Prompt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2. 與 AI 進行 5 輪漸進式對話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3. 用 AI 產出 10 個種子 DOI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4. 用 CrossRef API 驗證至少 3 個 DOI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5. 建立 3 篇 Obsidian 文獻筆記卡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6. 建立 references.bib (5+ 篇驗證引用)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(進階) Semantic Scholar API 取 Abstract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(進階) OpenAlex API 查 OA 狀態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27432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今日核心技能 (10 項)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400507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 CARE Prompt 框架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 漸進式縮焦法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 Extended Thinking 指令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 種子 DOI 生成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 CrossRef API 驗證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6.  Semantic Scholar / OpenAlex API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7.  Zotero 批次匯入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8.  Obsidian 筆記卡 + Graph View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9.  BibTeX 引用管理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10. Research Gap 識別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8595360" cy="59436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C5D"/>
                </a:solidFill>
              </a:rPr>
              <a:t>回家作業 (可選)：擴充文獻到 20 篇 | 完成 Research Gap 分析初稿 | 寫一份 1 頁研究方向說明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45262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Day 2 預告：IMRaD 架構 → QMD 撰寫 → 統計驗證 → 平行審查 → 投稿策略 → 帶走整套系統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明天，你將擁有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一個完整的 AI 研究團隊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65960" cy="2926080"/>
          </a:xfrm>
          <a:prstGeom prst="rect">
            <a:avLst/>
          </a:prstGeom>
          <a:solidFill>
            <a:srgbClr val="0F9D8A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24 Skills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paper-review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bib-manager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statistical-validation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evidence-indexer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mvp-gatekeeper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...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965960" cy="2926080"/>
          </a:xfrm>
          <a:prstGeom prst="rect">
            <a:avLst/>
          </a:prstGeom>
          <a:solidFill>
            <a:srgbClr val="E6A820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8 Agents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research-orchestrator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literature-researcher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paper-writer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citation-checker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paper-reviewer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1965960" cy="2926080"/>
          </a:xfrm>
          <a:prstGeom prst="rect">
            <a:avLst/>
          </a:prstGeom>
          <a:solidFill>
            <a:srgbClr val="0A7A6B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5 Commands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/review-paper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/analyze-literature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/analyze-experiment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/prepare-submission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/respond-reviewers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1554480"/>
            <a:ext cx="1965960" cy="2926080"/>
          </a:xfrm>
          <a:prstGeom prst="rect">
            <a:avLst/>
          </a:prstGeom>
          <a:solidFill>
            <a:srgbClr val="134B6E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5 APIs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CrossRef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Semantic Scholar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OpenAlex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Claude API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Zotero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Day 2：從 AI 助教 升級為 AI 研究團隊 — 讓 8 個專家 Agent 各司其職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 Workshop - Day 1</dc:title>
  <dc:subject>PptxGenJS Presentation</dc:subject>
  <dc:creator>Alan Chen</dc:creator>
  <cp:lastModifiedBy>Alan Chen</cp:lastModifiedBy>
  <cp:revision>1</cp:revision>
  <dcterms:created xsi:type="dcterms:W3CDTF">2026-03-07T04:45:14Z</dcterms:created>
  <dcterms:modified xsi:type="dcterms:W3CDTF">2026-03-07T04:45:14Z</dcterms:modified>
</cp:coreProperties>
</file>